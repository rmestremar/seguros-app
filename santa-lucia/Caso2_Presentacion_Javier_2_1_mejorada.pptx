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60" r:id="rId5"/>
    <p:sldId id="262" r:id="rId6"/>
    <p:sldId id="263" r:id="rId7"/>
    <p:sldId id="268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577"/>
    <a:srgbClr val="7A4CE7"/>
    <a:srgbClr val="2A9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7DD4B-6854-4C98-A130-6C279259FC7B}" v="675" dt="2026-06-27T16:12:35.871"/>
    <p1510:client id="{B22E6882-2742-492E-BC2E-A18E4A1519D5}" v="1" dt="2026-06-27T07:51:53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14A25-0B1A-45A0-9444-43973B58CF29}" type="datetimeFigureOut">
              <a:t>27/06/2026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7CE7C-1C66-4525-ABA4-A77333E715FD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13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5943600" cy="5943600"/>
          </a:xfrm>
          <a:prstGeom prst="ellipse">
            <a:avLst/>
          </a:prstGeom>
          <a:solidFill>
            <a:srgbClr val="06224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06224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ACADEMIA · SALES ACADEMY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</a:t>
            </a:r>
            <a:endParaRPr lang="en-US" sz="6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análisis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llegada al equipo como nuevo responsable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5440680"/>
            <a:ext cx="10332720" cy="0"/>
          </a:xfrm>
          <a:prstGeom prst="line">
            <a:avLst/>
          </a:prstGeom>
          <a:noFill/>
          <a:ln w="12700">
            <a:solidFill>
              <a:srgbClr val="2A4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Javier Jiménez </a:t>
            </a:r>
            <a:r>
              <a:rPr lang="en-US" sz="12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Durá</a:t>
            </a:r>
            <a:endParaRPr lang="en-US" sz="1250" dirty="0" err="1"/>
          </a:p>
        </p:txBody>
      </p:sp>
      <p:sp>
        <p:nvSpPr>
          <p:cNvPr id="11" name="Text 9"/>
          <p:cNvSpPr/>
          <p:nvPr/>
        </p:nvSpPr>
        <p:spPr>
          <a:xfrm>
            <a:off x="448056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5B7CA6"/>
                </a:solidFill>
                <a:ea typeface="Calibri"/>
                <a:cs typeface="Calibri"/>
              </a:rPr>
              <a:t>ÁREA</a:t>
            </a:r>
            <a:endParaRPr lang="en-US" sz="950" b="1" kern="0" spc="300" dirty="0">
              <a:solidFill>
                <a:srgbClr val="5B7CA6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80560" y="5943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>
                <a:solidFill>
                  <a:srgbClr val="FFFFFF"/>
                </a:solidFill>
                <a:ea typeface="Calibri"/>
                <a:cs typeface="Calibri"/>
              </a:rPr>
              <a:t>ASNORTE ALS – Zaragoza Delicias</a:t>
            </a:r>
            <a:endParaRPr lang="en-US" sz="125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  <p:timing>
    <p:tnLst>
      <p:par>
        <p:cTn id="238" dur="indefinite" restart="whenNotActive" nodeType="tmRoot">
          <p:childTnLst>
            <p:seq concurrent="1" nextAc="seek">
              <p:cTn id="239" dur="indefinite" nodeType="mainSeq"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4"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30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50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parent" path="M -0.3 0 L 0 0" pathEditMode="relative" dir="0">
                                      <p:cBhvr>
                                        <p:cTn id="2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70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90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110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5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11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9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110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3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110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7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6576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0" b="1" dirty="0">
                <a:solidFill>
                  <a:srgbClr val="EE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situación</a:t>
            </a:r>
            <a:endParaRPr lang="en-US" sz="5400" dirty="0"/>
          </a:p>
        </p:txBody>
      </p:sp>
    </p:spTree>
  </p:cSld>
  <p:clrMapOvr>
    <a:masterClrMapping/>
  </p:clrMapOvr>
  <p:transition spd="fast">
    <p:fade/>
  </p:transition>
  <p:timing>
    <p:tnLst>
      <p:par>
        <p:cTn id="254" dur="indefinite" restart="whenNotActive" nodeType="tmRoot">
          <p:childTnLst>
            <p:seq concurrent="1" nextAc="seek">
              <p:cTn id="255" dur="indefinite" nodeType="mainSeq"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parent" path="M 0 0.25 L 0 0" pathEditMode="relative" dir="0">
                                      <p:cBhvr>
                                        <p:cTn id="244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50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9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80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lowRect_61"/>
          <p:cNvSpPr/>
          <p:nvPr/>
        </p:nvSpPr>
        <p:spPr>
          <a:xfrm>
            <a:off x="8010146" y="1115860"/>
            <a:ext cx="4358640" cy="1569720"/>
          </a:xfrm>
          <a:prstGeom prst="roundRect">
            <a:avLst>
              <a:gd name="adj" fmla="val 6000"/>
            </a:avLst>
          </a:prstGeom>
          <a:solidFill>
            <a:srgbClr val="0055A4">
              <a:alpha val="12000"/>
            </a:srgbClr>
          </a:solidFill>
          <a:ln>
            <a:noFill/>
          </a:ln>
          <a:effectLst>
            <a:outerShdw blurRad="228600" dist="0" dir="0" rotWithShape="0">
              <a:srgbClr val="0055A4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" name="Shape 0"/>
          <p:cNvSpPr/>
          <p:nvPr/>
        </p:nvSpPr>
        <p:spPr>
          <a:xfrm>
            <a:off x="777240" y="557784"/>
            <a:ext cx="292608" cy="41148"/>
          </a:xfrm>
          <a:prstGeom prst="rect">
            <a:avLst/>
          </a:prstGeom>
          <a:solidFill>
            <a:srgbClr val="2E9BE6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Llego como nuevo responsable</a:t>
            </a:r>
            <a:endParaRPr lang="en-US" sz="32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3B59462-8F7A-C210-F8CA-BE6B961FD3D6}"/>
              </a:ext>
            </a:extLst>
          </p:cNvPr>
          <p:cNvGrpSpPr/>
          <p:nvPr/>
        </p:nvGrpSpPr>
        <p:grpSpPr>
          <a:xfrm>
            <a:off x="5985405" y="157014"/>
            <a:ext cx="4206240" cy="1417320"/>
            <a:chOff x="777240" y="2240280"/>
            <a:chExt cx="4206240" cy="1417320"/>
          </a:xfrm>
        </p:grpSpPr>
        <p:sp>
          <p:nvSpPr>
            <p:cNvPr id="6" name="Shape 4"/>
            <p:cNvSpPr/>
            <p:nvPr/>
          </p:nvSpPr>
          <p:spPr>
            <a:xfrm>
              <a:off x="777240" y="2240280"/>
              <a:ext cx="420624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1051560" y="2423160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9CA3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ANTES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51560" y="2697480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Javier · Vendedor laboral</a:t>
              </a:r>
              <a:endParaRPr lang="en-US" sz="2000" dirty="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F68D5CE7-7F0A-8F2E-405B-EEE839938CB0}"/>
              </a:ext>
            </a:extLst>
          </p:cNvPr>
          <p:cNvGrpSpPr/>
          <p:nvPr/>
        </p:nvGrpSpPr>
        <p:grpSpPr>
          <a:xfrm>
            <a:off x="6600492" y="1188205"/>
            <a:ext cx="1005840" cy="384048"/>
            <a:chOff x="2377440" y="3703320"/>
            <a:chExt cx="1005840" cy="384048"/>
          </a:xfrm>
        </p:grpSpPr>
        <p:sp>
          <p:nvSpPr>
            <p:cNvPr id="10" name="Shape 8"/>
            <p:cNvSpPr/>
            <p:nvPr/>
          </p:nvSpPr>
          <p:spPr>
            <a:xfrm>
              <a:off x="2377440" y="3703320"/>
              <a:ext cx="1005840" cy="384048"/>
            </a:xfrm>
            <a:prstGeom prst="roundRect">
              <a:avLst>
                <a:gd name="adj" fmla="val 50000"/>
              </a:avLst>
            </a:prstGeom>
            <a:solidFill>
              <a:srgbClr val="2E9BE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2377440" y="370332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 ASCENSO</a:t>
              </a:r>
              <a:endParaRPr lang="en-US" sz="900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1E0D60FB-01AF-1D36-0A22-46636A95D12D}"/>
              </a:ext>
            </a:extLst>
          </p:cNvPr>
          <p:cNvGrpSpPr/>
          <p:nvPr/>
        </p:nvGrpSpPr>
        <p:grpSpPr>
          <a:xfrm>
            <a:off x="8086346" y="1192060"/>
            <a:ext cx="4206240" cy="1417320"/>
            <a:chOff x="728304" y="4292227"/>
            <a:chExt cx="4206240" cy="1417320"/>
          </a:xfrm>
        </p:grpSpPr>
        <p:sp>
          <p:nvSpPr>
            <p:cNvPr id="12" name="Shape 10"/>
            <p:cNvSpPr/>
            <p:nvPr/>
          </p:nvSpPr>
          <p:spPr>
            <a:xfrm>
              <a:off x="728304" y="4292227"/>
              <a:ext cx="420624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31750">
              <a:solidFill>
                <a:srgbClr val="0055A4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1051560" y="4293346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005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AHORA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51560" y="4434840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05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Javier · Responsable del equipo</a:t>
              </a:r>
              <a:endParaRPr lang="en-U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F4A3E386-5569-54A3-31CF-33E8B0A3BD19}"/>
              </a:ext>
            </a:extLst>
          </p:cNvPr>
          <p:cNvGrpSpPr/>
          <p:nvPr/>
        </p:nvGrpSpPr>
        <p:grpSpPr>
          <a:xfrm>
            <a:off x="3234794" y="2386528"/>
            <a:ext cx="2423160" cy="2286000"/>
            <a:chOff x="5394960" y="2148840"/>
            <a:chExt cx="2423160" cy="2286000"/>
          </a:xfrm>
        </p:grpSpPr>
        <p:sp>
          <p:nvSpPr>
            <p:cNvPr id="16" name="Shape 14"/>
            <p:cNvSpPr/>
            <p:nvPr/>
          </p:nvSpPr>
          <p:spPr>
            <a:xfrm>
              <a:off x="5394960" y="2148840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5394960" y="2148840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7C3AED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5394960" y="2194560"/>
              <a:ext cx="2423160" cy="45720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5559552" y="2350008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María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5559552" y="2697480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2.º CICLO · DESDE 2021</a:t>
              </a:r>
              <a:endParaRPr lang="en-US" sz="7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559552" y="2953512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400" dirty="0">
                  <a:solidFill>
                    <a:srgbClr val="6B7280"/>
                  </a:solidFill>
                  <a:latin typeface="Calibri"/>
                  <a:ea typeface="Calibri"/>
                  <a:cs typeface="Calibri"/>
                </a:rPr>
                <a:t>177,46 % de </a:t>
              </a:r>
              <a:r>
                <a:rPr lang="en-US" sz="1400" dirty="0" err="1">
                  <a:solidFill>
                    <a:srgbClr val="6B7280"/>
                  </a:solidFill>
                  <a:latin typeface="Calibri"/>
                  <a:ea typeface="Calibri"/>
                  <a:cs typeface="Calibri"/>
                </a:rPr>
                <a:t>cobertura</a:t>
              </a:r>
              <a:endParaRPr lang="en-US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algn="ctr"/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  <a:p>
              <a:pPr algn="ctr"/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  <a:p>
              <a:pPr algn="just">
                <a:lnSpc>
                  <a:spcPct val="120000"/>
                </a:lnSpc>
              </a:pPr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C1194113-73E0-5673-5E2A-0A14AFCDCF23}"/>
              </a:ext>
            </a:extLst>
          </p:cNvPr>
          <p:cNvGrpSpPr/>
          <p:nvPr/>
        </p:nvGrpSpPr>
        <p:grpSpPr>
          <a:xfrm>
            <a:off x="6468387" y="2386528"/>
            <a:ext cx="2423160" cy="2286000"/>
            <a:chOff x="7964424" y="2148840"/>
            <a:chExt cx="2423160" cy="2286000"/>
          </a:xfrm>
        </p:grpSpPr>
        <p:sp>
          <p:nvSpPr>
            <p:cNvPr id="22" name="Shape 20"/>
            <p:cNvSpPr/>
            <p:nvPr/>
          </p:nvSpPr>
          <p:spPr>
            <a:xfrm>
              <a:off x="7964424" y="2148840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7964424" y="2148840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DB2777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7964424" y="2194560"/>
              <a:ext cx="2423160" cy="45720"/>
            </a:xfrm>
            <a:prstGeom prst="rect">
              <a:avLst/>
            </a:prstGeom>
            <a:solidFill>
              <a:srgbClr val="DB2777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8129016" y="2350008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Rosa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8129016" y="2697480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 dirty="0">
                  <a:solidFill>
                    <a:srgbClr val="DB2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2.º CICLO · DESDE 2023</a:t>
              </a:r>
              <a:endParaRPr lang="en-US" sz="7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129016" y="2953512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lnSpc>
                  <a:spcPct val="120000"/>
                </a:lnSpc>
                <a:buNone/>
              </a:pPr>
              <a:endParaRPr lang="en-US" sz="1000" dirty="0">
                <a:solidFill>
                  <a:srgbClr val="6B7280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A7F5D70C-C308-8E36-F01A-F9C80786D7FD}"/>
              </a:ext>
            </a:extLst>
          </p:cNvPr>
          <p:cNvGrpSpPr/>
          <p:nvPr/>
        </p:nvGrpSpPr>
        <p:grpSpPr>
          <a:xfrm>
            <a:off x="9351768" y="2386025"/>
            <a:ext cx="2423160" cy="2286000"/>
            <a:chOff x="5394960" y="4581144"/>
            <a:chExt cx="2423160" cy="2286000"/>
          </a:xfrm>
        </p:grpSpPr>
        <p:sp>
          <p:nvSpPr>
            <p:cNvPr id="28" name="Shape 26"/>
            <p:cNvSpPr/>
            <p:nvPr/>
          </p:nvSpPr>
          <p:spPr>
            <a:xfrm>
              <a:off x="5394960" y="4581144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5394960" y="4581144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059669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5394960" y="4626864"/>
              <a:ext cx="2423160" cy="45720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5559552" y="4782312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Ibtisam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5559552" y="5129784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>
                  <a:solidFill>
                    <a:srgbClr val="059669"/>
                  </a:solidFill>
                  <a:latin typeface="Calibri"/>
                  <a:ea typeface="Calibri"/>
                  <a:cs typeface="Calibri"/>
                </a:rPr>
                <a:t>1.</a:t>
              </a:r>
              <a:r>
                <a:rPr lang="en-US" sz="750" b="1" kern="0" spc="100">
                  <a:solidFill>
                    <a:srgbClr val="2A966B"/>
                  </a:solidFill>
                  <a:latin typeface="Calibri"/>
                  <a:ea typeface="Calibri"/>
                  <a:cs typeface="Calibri"/>
                </a:rPr>
                <a:t>ER</a:t>
              </a:r>
              <a:r>
                <a:rPr lang="en-US" sz="750" b="1" kern="0" spc="100">
                  <a:solidFill>
                    <a:srgbClr val="059669"/>
                  </a:solidFill>
                  <a:latin typeface="Calibri"/>
                  <a:ea typeface="Calibri"/>
                  <a:cs typeface="Calibri"/>
                </a:rPr>
                <a:t> CICLO · </a:t>
              </a:r>
              <a:endParaRPr lang="en-US" sz="75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5559552" y="5385816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lnSpc>
                  <a:spcPct val="120000"/>
                </a:lnSpc>
                <a:buNone/>
              </a:pPr>
              <a:endParaRPr lang="en-US" sz="1000" dirty="0">
                <a:solidFill>
                  <a:srgbClr val="6B7280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05390CF4-EE2C-71F8-3846-A33B0C37C8CB}"/>
              </a:ext>
            </a:extLst>
          </p:cNvPr>
          <p:cNvGrpSpPr/>
          <p:nvPr/>
        </p:nvGrpSpPr>
        <p:grpSpPr>
          <a:xfrm>
            <a:off x="463268" y="2386025"/>
            <a:ext cx="2423160" cy="2286000"/>
            <a:chOff x="7964424" y="4581144"/>
            <a:chExt cx="2423160" cy="2286000"/>
          </a:xfrm>
        </p:grpSpPr>
        <p:sp>
          <p:nvSpPr>
            <p:cNvPr id="34" name="Shape 32"/>
            <p:cNvSpPr/>
            <p:nvPr/>
          </p:nvSpPr>
          <p:spPr>
            <a:xfrm>
              <a:off x="7964424" y="4581144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7964424" y="4581144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D9770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7964424" y="4626864"/>
              <a:ext cx="2423160" cy="45720"/>
            </a:xfrm>
            <a:prstGeom prst="rect">
              <a:avLst/>
            </a:prstGeom>
            <a:solidFill>
              <a:srgbClr val="D97706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8129016" y="4782312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Diego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8129016" y="5129784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VENDEDOR LABORAL · 2017</a:t>
              </a:r>
              <a:endParaRPr lang="en-US" sz="7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129016" y="5385816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 algn="just">
                <a:lnSpc>
                  <a:spcPct val="120000"/>
                </a:lnSpc>
                <a:buFont typeface="Wingdings"/>
                <a:buChar char="q"/>
              </a:pPr>
              <a:endParaRPr lang="en-US" sz="1000" dirty="0">
                <a:solidFill>
                  <a:srgbClr val="6B7280"/>
                </a:solidFill>
                <a:ea typeface="Calibri" panose="020F0502020204030204"/>
                <a:cs typeface="Calibri" panose="020F0502020204030204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400" dirty="0">
                  <a:solidFill>
                    <a:srgbClr val="6B7280"/>
                  </a:solidFill>
                  <a:ea typeface="Calibri" panose="020F0502020204030204"/>
                  <a:cs typeface="Calibri" panose="020F0502020204030204"/>
                </a:rPr>
                <a:t>28,97 % de </a:t>
              </a:r>
              <a:r>
                <a:rPr lang="en-US" sz="1400" dirty="0" err="1">
                  <a:solidFill>
                    <a:srgbClr val="6B7280"/>
                  </a:solidFill>
                  <a:ea typeface="Calibri" panose="020F0502020204030204"/>
                  <a:cs typeface="Calibri" panose="020F0502020204030204"/>
                </a:rPr>
                <a:t>cobertura</a:t>
              </a:r>
              <a:endParaRPr lang="en-US" sz="1400" dirty="0">
                <a:solidFill>
                  <a:srgbClr val="6B7280"/>
                </a:solidFill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2DEAA89-4194-1006-0A9F-3DFC699C6CED}"/>
              </a:ext>
            </a:extLst>
          </p:cNvPr>
          <p:cNvSpPr txBox="1"/>
          <p:nvPr/>
        </p:nvSpPr>
        <p:spPr>
          <a:xfrm>
            <a:off x="6473505" y="3338119"/>
            <a:ext cx="241882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rgbClr val="6B7280"/>
                </a:solidFill>
                <a:latin typeface="Calibri"/>
              </a:rPr>
              <a:t>122,05</a:t>
            </a:r>
            <a:r>
              <a:rPr lang="en-US" sz="1400" b="0" i="0" u="none" strike="noStrike" baseline="0" dirty="0">
                <a:solidFill>
                  <a:srgbClr val="6B7280"/>
                </a:solidFill>
                <a:latin typeface="Calibri"/>
              </a:rPr>
              <a:t> % de </a:t>
            </a:r>
            <a:r>
              <a:rPr lang="en-US" sz="1400" b="0" i="0" u="none" strike="noStrike" baseline="0" dirty="0" err="1">
                <a:solidFill>
                  <a:srgbClr val="6B7280"/>
                </a:solidFill>
                <a:latin typeface="Calibri"/>
              </a:rPr>
              <a:t>cobertura</a:t>
            </a:r>
            <a:r>
              <a:rPr sz="14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s-ES" dirty="0">
              <a:ea typeface="Calibri" panose="020F0502020204030204"/>
              <a:cs typeface="Calibri" panose="020F0502020204030204"/>
            </a:endParaRPr>
          </a:p>
          <a:p>
            <a:pPr algn="ctr"/>
            <a:endParaRPr lang="es-ES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1D2FA3B-B753-BAED-4CF6-07D67818B1C6}"/>
              </a:ext>
            </a:extLst>
          </p:cNvPr>
          <p:cNvGrpSpPr/>
          <p:nvPr/>
        </p:nvGrpSpPr>
        <p:grpSpPr>
          <a:xfrm>
            <a:off x="3667089" y="4050044"/>
            <a:ext cx="1554480" cy="310896"/>
            <a:chOff x="4206240" y="1929384"/>
            <a:chExt cx="1554480" cy="310896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086B7BC-BD16-B936-1A84-F24A4363A9CF}"/>
                </a:ext>
              </a:extLst>
            </p:cNvPr>
            <p:cNvSpPr/>
            <p:nvPr/>
          </p:nvSpPr>
          <p:spPr>
            <a:xfrm>
              <a:off x="4206240" y="192938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821CF940-022B-7E4A-2F86-F7B74C8D6095}"/>
                </a:ext>
              </a:extLst>
            </p:cNvPr>
            <p:cNvSpPr/>
            <p:nvPr/>
          </p:nvSpPr>
          <p:spPr>
            <a:xfrm>
              <a:off x="4206240" y="192938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MOTOR</a:t>
              </a:r>
              <a:endParaRPr lang="en-US" sz="85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34B6BE8-4E6E-2D8F-E64B-5A8413D34739}"/>
              </a:ext>
            </a:extLst>
          </p:cNvPr>
          <p:cNvGrpSpPr/>
          <p:nvPr/>
        </p:nvGrpSpPr>
        <p:grpSpPr>
          <a:xfrm>
            <a:off x="6903432" y="4085988"/>
            <a:ext cx="1554480" cy="310896"/>
            <a:chOff x="9692640" y="1929384"/>
            <a:chExt cx="1554480" cy="310896"/>
          </a:xfrm>
        </p:grpSpPr>
        <p:sp>
          <p:nvSpPr>
            <p:cNvPr id="59" name="Shape 10">
              <a:extLst>
                <a:ext uri="{FF2B5EF4-FFF2-40B4-BE49-F238E27FC236}">
                  <a16:creationId xmlns:a16="http://schemas.microsoft.com/office/drawing/2014/main" id="{48DB9E1F-822D-11B4-3CBF-CC22F3BE2959}"/>
                </a:ext>
              </a:extLst>
            </p:cNvPr>
            <p:cNvSpPr/>
            <p:nvPr/>
          </p:nvSpPr>
          <p:spPr>
            <a:xfrm>
              <a:off x="9692640" y="192938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DB2777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Text 11">
              <a:extLst>
                <a:ext uri="{FF2B5EF4-FFF2-40B4-BE49-F238E27FC236}">
                  <a16:creationId xmlns:a16="http://schemas.microsoft.com/office/drawing/2014/main" id="{DE552F15-9CCF-0F3F-9EDF-09CF29958A6E}"/>
                </a:ext>
              </a:extLst>
            </p:cNvPr>
            <p:cNvSpPr/>
            <p:nvPr/>
          </p:nvSpPr>
          <p:spPr>
            <a:xfrm>
              <a:off x="9692640" y="192938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POTENCIAL</a:t>
              </a:r>
              <a:endParaRPr lang="es-ES"/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D3BE3529-CCF2-F283-5D2E-41695DBEF068}"/>
              </a:ext>
            </a:extLst>
          </p:cNvPr>
          <p:cNvGrpSpPr/>
          <p:nvPr/>
        </p:nvGrpSpPr>
        <p:grpSpPr>
          <a:xfrm>
            <a:off x="9784655" y="4084838"/>
            <a:ext cx="1554480" cy="310896"/>
            <a:chOff x="4206240" y="3941064"/>
            <a:chExt cx="1554480" cy="310896"/>
          </a:xfrm>
        </p:grpSpPr>
        <p:sp>
          <p:nvSpPr>
            <p:cNvPr id="57" name="Shape 15">
              <a:extLst>
                <a:ext uri="{FF2B5EF4-FFF2-40B4-BE49-F238E27FC236}">
                  <a16:creationId xmlns:a16="http://schemas.microsoft.com/office/drawing/2014/main" id="{2CE00839-EA4D-D3A9-B689-27E23D90FAB9}"/>
                </a:ext>
              </a:extLst>
            </p:cNvPr>
            <p:cNvSpPr/>
            <p:nvPr/>
          </p:nvSpPr>
          <p:spPr>
            <a:xfrm>
              <a:off x="4206240" y="394106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Text 16">
              <a:extLst>
                <a:ext uri="{FF2B5EF4-FFF2-40B4-BE49-F238E27FC236}">
                  <a16:creationId xmlns:a16="http://schemas.microsoft.com/office/drawing/2014/main" id="{2F6E8C9D-D19B-2782-075C-3E0FC4663BD4}"/>
                </a:ext>
              </a:extLst>
            </p:cNvPr>
            <p:cNvSpPr/>
            <p:nvPr/>
          </p:nvSpPr>
          <p:spPr>
            <a:xfrm>
              <a:off x="4206240" y="394106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FORMACIÓN</a:t>
              </a:r>
              <a:endParaRPr lang="en-US" sz="85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28CC568-2DC0-365C-76D9-A89F43900AE3}"/>
              </a:ext>
            </a:extLst>
          </p:cNvPr>
          <p:cNvGrpSpPr/>
          <p:nvPr/>
        </p:nvGrpSpPr>
        <p:grpSpPr>
          <a:xfrm>
            <a:off x="900885" y="4056083"/>
            <a:ext cx="1554480" cy="310896"/>
            <a:chOff x="9692640" y="3941064"/>
            <a:chExt cx="1554480" cy="310896"/>
          </a:xfrm>
        </p:grpSpPr>
        <p:sp>
          <p:nvSpPr>
            <p:cNvPr id="55" name="Shape 20">
              <a:extLst>
                <a:ext uri="{FF2B5EF4-FFF2-40B4-BE49-F238E27FC236}">
                  <a16:creationId xmlns:a16="http://schemas.microsoft.com/office/drawing/2014/main" id="{6AC6254F-3E7E-7AB0-58EE-6EEDD7B81081}"/>
                </a:ext>
              </a:extLst>
            </p:cNvPr>
            <p:cNvSpPr/>
            <p:nvPr/>
          </p:nvSpPr>
          <p:spPr>
            <a:xfrm>
              <a:off x="9692640" y="394106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4CB00E07-A49B-007D-0BF7-3633716D1FD9}"/>
                </a:ext>
              </a:extLst>
            </p:cNvPr>
            <p:cNvSpPr/>
            <p:nvPr/>
          </p:nvSpPr>
          <p:spPr>
            <a:xfrm>
              <a:off x="9692640" y="394106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>
                  <a:solidFill>
                    <a:srgbClr val="FFFFFF"/>
                  </a:solidFill>
                  <a:ea typeface="Calibri"/>
                  <a:cs typeface="Calibri"/>
                </a:rPr>
                <a:t>VETERANÍA</a:t>
              </a:r>
              <a:endParaRPr lang="en-US" sz="850" b="1" kern="0" spc="1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62" name="Arrow_62"/>
          <p:cNvSpPr/>
          <p:nvPr/>
        </p:nvSpPr>
        <p:spPr>
          <a:xfrm>
            <a:off x="9991645" y="865674"/>
            <a:ext cx="1705299" cy="1035046"/>
          </a:xfrm>
          <a:prstGeom prst="line">
            <a:avLst/>
          </a:prstGeom>
          <a:noFill/>
          <a:ln w="28575" cap="rnd">
            <a:solidFill>
              <a:srgbClr val="2E9BE6">
                <a:alpha val="55000"/>
              </a:srgbClr>
            </a:solidFill>
            <a:prstDash val="sysDot"/>
            <a:tailEnd type="arrow" w="med" len="med"/>
          </a:ln>
        </p:spPr>
        <p:txBody>
          <a:bodyPr/>
          <a:lstStyle/>
          <a:p/>
        </p:txBody>
      </p:sp>
      <p:sp>
        <p:nvSpPr>
          <p:cNvPr id="63" name="StarDeco_63"/>
          <p:cNvSpPr/>
          <p:nvPr/>
        </p:nvSpPr>
        <p:spPr>
          <a:xfrm>
            <a:off x="10350000" y="80000"/>
            <a:ext cx="350000" cy="350000"/>
          </a:xfrm>
          <a:prstGeom prst="star5">
            <a:avLst/>
          </a:prstGeom>
          <a:solidFill>
            <a:srgbClr val="E07B00">
              <a:alpha val="100000"/>
            </a:srgbClr>
          </a:solidFill>
          <a:ln>
            <a:noFill/>
          </a:ln>
          <a:effectLst>
            <a:outerShdw blurRad="38100" dist="12700" dir="5400000" rotWithShape="0">
              <a:srgbClr val="E07B00">
                <a:alpha val="30000"/>
              </a:srgbClr>
            </a:outerShdw>
          </a:effectLst>
        </p:spPr>
        <p:txBody>
          <a:bodyPr/>
          <a:lstStyle/>
          <a:p/>
        </p:txBody>
      </p:sp>
      <p:sp>
        <p:nvSpPr>
          <p:cNvPr id="64" name="StarDeco_64"/>
          <p:cNvSpPr/>
          <p:nvPr/>
        </p:nvSpPr>
        <p:spPr>
          <a:xfrm>
            <a:off x="10850000" y="220000"/>
            <a:ext cx="230000" cy="230000"/>
          </a:xfrm>
          <a:prstGeom prst="star5">
            <a:avLst/>
          </a:prstGeom>
          <a:solidFill>
            <a:srgbClr val="E07B00">
              <a:alpha val="85000"/>
            </a:srgbClr>
          </a:solidFill>
          <a:ln>
            <a:noFill/>
          </a:ln>
          <a:effectLst>
            <a:outerShdw blurRad="38100" dist="12700" dir="5400000" rotWithShape="0">
              <a:srgbClr val="E07B00">
                <a:alpha val="30000"/>
              </a:srgbClr>
            </a:outerShdw>
          </a:effectLst>
        </p:spPr>
        <p:txBody>
          <a:bodyPr/>
          <a:lstStyle/>
          <a:p/>
        </p:txBody>
      </p:sp>
      <p:sp>
        <p:nvSpPr>
          <p:cNvPr id="65" name="StarDeco_65"/>
          <p:cNvSpPr/>
          <p:nvPr/>
        </p:nvSpPr>
        <p:spPr>
          <a:xfrm>
            <a:off x="11200000" y="50000"/>
            <a:ext cx="180000" cy="180000"/>
          </a:xfrm>
          <a:prstGeom prst="star5">
            <a:avLst/>
          </a:prstGeom>
          <a:solidFill>
            <a:srgbClr val="2E9BE6">
              <a:alpha val="90000"/>
            </a:srgbClr>
          </a:solidFill>
          <a:ln>
            <a:noFill/>
          </a:ln>
          <a:effectLst>
            <a:outerShdw blurRad="38100" dist="12700" dir="5400000" rotWithShape="0">
              <a:srgbClr val="2E9BE6">
                <a:alpha val="30000"/>
              </a:srgbClr>
            </a:outerShdw>
          </a:effectLst>
        </p:spPr>
        <p:txBody>
          <a:bodyPr/>
          <a:lstStyle/>
          <a:p/>
        </p:txBody>
      </p:sp>
      <p:sp>
        <p:nvSpPr>
          <p:cNvPr id="66" name="StarDeco_66"/>
          <p:cNvSpPr/>
          <p:nvPr/>
        </p:nvSpPr>
        <p:spPr>
          <a:xfrm>
            <a:off x="11550000" y="280000"/>
            <a:ext cx="140000" cy="140000"/>
          </a:xfrm>
          <a:prstGeom prst="star5">
            <a:avLst/>
          </a:prstGeom>
          <a:solidFill>
            <a:srgbClr val="E07B00">
              <a:alpha val="75000"/>
            </a:srgbClr>
          </a:solidFill>
          <a:ln>
            <a:noFill/>
          </a:ln>
          <a:effectLst>
            <a:outerShdw blurRad="38100" dist="12700" dir="5400000" rotWithShape="0">
              <a:srgbClr val="E07B00">
                <a:alpha val="30000"/>
              </a:srgbClr>
            </a:outerShdw>
          </a:effectLst>
        </p:spPr>
        <p:txBody>
          <a:bodyPr/>
          <a:lstStyle/>
          <a:p/>
        </p:txBody>
      </p:sp>
      <p:sp>
        <p:nvSpPr>
          <p:cNvPr id="67" name="StarDeco_67"/>
          <p:cNvSpPr/>
          <p:nvPr/>
        </p:nvSpPr>
        <p:spPr>
          <a:xfrm>
            <a:off x="10600000" y="450000"/>
            <a:ext cx="150000" cy="150000"/>
          </a:xfrm>
          <a:prstGeom prst="star5">
            <a:avLst/>
          </a:prstGeom>
          <a:solidFill>
            <a:srgbClr val="0055A4">
              <a:alpha val="70000"/>
            </a:srgbClr>
          </a:solidFill>
          <a:ln>
            <a:noFill/>
          </a:ln>
          <a:effectLst>
            <a:outerShdw blurRad="38100" dist="12700" dir="5400000" rotWithShape="0">
              <a:srgbClr val="0055A4">
                <a:alpha val="30000"/>
              </a:srgbClr>
            </a:outerShdw>
          </a:effectLst>
        </p:spPr>
        <p:txBody>
          <a:bodyPr/>
          <a:lstStyle/>
          <a:p/>
        </p:txBody>
      </p:sp>
    </p:spTree>
  </p:cSld>
  <p:clrMapOvr>
    <a:masterClrMapping/>
  </p:clrMapOvr>
  <p:transition spd="fast">
    <p:fade/>
  </p:transition>
  <p:timing>
    <p:tnLst>
      <p:par>
        <p:cTn id="299" dur="indefinite" restart="whenNotActive" nodeType="tmRoot">
          <p:childTnLst>
            <p:seq concurrent="1" nextAc="seek">
              <p:cTn id="300" dur="indefinite" nodeType="mainSeq"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9" dur="7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60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3" dur="500" fill="hold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90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parent" path="M 0 0.25 L 0 0" pathEditMode="relative" dir="0">
                                      <p:cBhvr>
                                        <p:cTn id="2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140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3" dur="400" fill="hold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140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" presetClass="entr" presetSubtype="2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parent" path="M -0.3 0 L 0 0" pathEditMode="relative" dir="0">
                                      <p:cBhvr>
                                        <p:cTn id="278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210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2" dur="300" fill="hold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225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6" dur="300" fill="hold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240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0" dur="300" fill="hold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255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4" dur="300" fill="hold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2700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8" dur="300" fill="hold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57784"/>
            <a:ext cx="292608" cy="41148"/>
          </a:xfrm>
          <a:prstGeom prst="rect">
            <a:avLst/>
          </a:prstGeom>
          <a:solidFill>
            <a:srgbClr val="2E9BE6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60 DÍAS · EMBUDO COMPLETO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25137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del equipo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3698" y="1554480"/>
            <a:ext cx="45690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Presupuestos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realizados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tasas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conversión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y puntos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conseguidos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febrero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trimestre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). 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237976" cy="4509817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ÚLTIMOS 60 DÍAS 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CONVERSIÓN 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PUNTOS 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Llam→Ent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Ent→Grab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28,97 %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170,60 %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177,46 %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108,76 %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122,05 %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5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Ibtisam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formación · 1.er ciclo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1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por persona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marL="91440" marR="91440" marT="45720" marB="4572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526" y="598496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 err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Recuerda</a:t>
            </a:r>
            <a:r>
              <a:rPr lang="en-US" sz="1000" i="1" dirty="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añadir</a:t>
            </a:r>
            <a:r>
              <a:rPr lang="en-US" sz="1000" i="1" dirty="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 el bocadillo: PRIORIDAD MANEJO DE TABLET Y REGISTRO</a:t>
            </a:r>
          </a:p>
          <a:p>
            <a:endParaRPr lang="en-US" sz="1000" i="1" dirty="0">
              <a:solidFill>
                <a:srgbClr val="9CA3AF"/>
              </a:solidFill>
              <a:ea typeface="Calibri"/>
              <a:cs typeface="Calibri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C10B3411-C36D-1417-6970-33C59BD02796}"/>
              </a:ext>
            </a:extLst>
          </p:cNvPr>
          <p:cNvGrpSpPr/>
          <p:nvPr/>
        </p:nvGrpSpPr>
        <p:grpSpPr>
          <a:xfrm>
            <a:off x="5539378" y="428754"/>
            <a:ext cx="6196148" cy="1455782"/>
            <a:chOff x="502920" y="4187952"/>
            <a:chExt cx="5303520" cy="914400"/>
          </a:xfrm>
        </p:grpSpPr>
        <p:sp>
          <p:nvSpPr>
            <p:cNvPr id="9" name="Text 19">
              <a:extLst>
                <a:ext uri="{FF2B5EF4-FFF2-40B4-BE49-F238E27FC236}">
                  <a16:creationId xmlns:a16="http://schemas.microsoft.com/office/drawing/2014/main" id="{57B0A3CF-037F-AAAF-4BE7-C85A79271851}"/>
                </a:ext>
              </a:extLst>
            </p:cNvPr>
            <p:cNvSpPr/>
            <p:nvPr/>
          </p:nvSpPr>
          <p:spPr>
            <a:xfrm>
              <a:off x="502920" y="4187952"/>
              <a:ext cx="5303520" cy="20116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0055A4"/>
                  </a:solidFill>
                  <a:latin typeface="Calibri"/>
                  <a:ea typeface="Calibri"/>
                  <a:cs typeface="Calibri"/>
                </a:rPr>
                <a:t>ESTÁNDAR SEMANAL POR VENDEDOR</a:t>
              </a:r>
              <a:endParaRPr lang="en-US"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D2519F7D-F840-55C0-65D6-DCDB3AEA5409}"/>
                </a:ext>
              </a:extLst>
            </p:cNvPr>
            <p:cNvSpPr/>
            <p:nvPr/>
          </p:nvSpPr>
          <p:spPr>
            <a:xfrm>
              <a:off x="502920" y="4467590"/>
              <a:ext cx="5303520" cy="621007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50800" dist="12700" dir="27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Shape 21">
              <a:extLst>
                <a:ext uri="{FF2B5EF4-FFF2-40B4-BE49-F238E27FC236}">
                  <a16:creationId xmlns:a16="http://schemas.microsoft.com/office/drawing/2014/main" id="{ACF35FB5-B761-8C0C-B322-87F8E5F7BCE3}"/>
                </a:ext>
              </a:extLst>
            </p:cNvPr>
            <p:cNvSpPr/>
            <p:nvPr/>
          </p:nvSpPr>
          <p:spPr>
            <a:xfrm>
              <a:off x="50292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 sz="1200"/>
            </a:p>
          </p:txBody>
        </p:sp>
        <p:sp>
          <p:nvSpPr>
            <p:cNvPr id="12" name="Text 22">
              <a:extLst>
                <a:ext uri="{FF2B5EF4-FFF2-40B4-BE49-F238E27FC236}">
                  <a16:creationId xmlns:a16="http://schemas.microsoft.com/office/drawing/2014/main" id="{427C80D1-3E32-124C-B9A4-728CB1CAADA1}"/>
                </a:ext>
              </a:extLst>
            </p:cNvPr>
            <p:cNvSpPr/>
            <p:nvPr/>
          </p:nvSpPr>
          <p:spPr>
            <a:xfrm>
              <a:off x="50292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Llamadas</a:t>
              </a:r>
              <a:endParaRPr lang="en-US" sz="1200" b="1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13" name="Shape 23">
              <a:extLst>
                <a:ext uri="{FF2B5EF4-FFF2-40B4-BE49-F238E27FC236}">
                  <a16:creationId xmlns:a16="http://schemas.microsoft.com/office/drawing/2014/main" id="{D90DAC65-EA8D-98D9-49EA-73973D9B841D}"/>
                </a:ext>
              </a:extLst>
            </p:cNvPr>
            <p:cNvSpPr/>
            <p:nvPr/>
          </p:nvSpPr>
          <p:spPr>
            <a:xfrm>
              <a:off x="138684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 24">
              <a:extLst>
                <a:ext uri="{FF2B5EF4-FFF2-40B4-BE49-F238E27FC236}">
                  <a16:creationId xmlns:a16="http://schemas.microsoft.com/office/drawing/2014/main" id="{EF738740-D6D1-5BAB-A1B5-CECCD1F4D413}"/>
                </a:ext>
              </a:extLst>
            </p:cNvPr>
            <p:cNvSpPr/>
            <p:nvPr/>
          </p:nvSpPr>
          <p:spPr>
            <a:xfrm>
              <a:off x="138684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Entrevistas</a:t>
              </a:r>
            </a:p>
          </p:txBody>
        </p:sp>
        <p:sp>
          <p:nvSpPr>
            <p:cNvPr id="15" name="Shape 25">
              <a:extLst>
                <a:ext uri="{FF2B5EF4-FFF2-40B4-BE49-F238E27FC236}">
                  <a16:creationId xmlns:a16="http://schemas.microsoft.com/office/drawing/2014/main" id="{B1F1D2C6-C987-245F-CBFB-07FB21FD05E8}"/>
                </a:ext>
              </a:extLst>
            </p:cNvPr>
            <p:cNvSpPr/>
            <p:nvPr/>
          </p:nvSpPr>
          <p:spPr>
            <a:xfrm>
              <a:off x="227076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 26">
              <a:extLst>
                <a:ext uri="{FF2B5EF4-FFF2-40B4-BE49-F238E27FC236}">
                  <a16:creationId xmlns:a16="http://schemas.microsoft.com/office/drawing/2014/main" id="{ADD8DA53-74C2-DFCC-1B20-1A9EA8360832}"/>
                </a:ext>
              </a:extLst>
            </p:cNvPr>
            <p:cNvSpPr/>
            <p:nvPr/>
          </p:nvSpPr>
          <p:spPr>
            <a:xfrm>
              <a:off x="227076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Presupuestos</a:t>
              </a:r>
              <a:endParaRPr lang="es-ES" sz="1200" dirty="0" err="1"/>
            </a:p>
          </p:txBody>
        </p:sp>
        <p:sp>
          <p:nvSpPr>
            <p:cNvPr id="17" name="Shape 27">
              <a:extLst>
                <a:ext uri="{FF2B5EF4-FFF2-40B4-BE49-F238E27FC236}">
                  <a16:creationId xmlns:a16="http://schemas.microsoft.com/office/drawing/2014/main" id="{EE4414A2-F90A-4BA2-2E74-A29487995F40}"/>
                </a:ext>
              </a:extLst>
            </p:cNvPr>
            <p:cNvSpPr/>
            <p:nvPr/>
          </p:nvSpPr>
          <p:spPr>
            <a:xfrm>
              <a:off x="315468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 28">
              <a:extLst>
                <a:ext uri="{FF2B5EF4-FFF2-40B4-BE49-F238E27FC236}">
                  <a16:creationId xmlns:a16="http://schemas.microsoft.com/office/drawing/2014/main" id="{8C3064F5-6720-D595-3432-2E04F397FE99}"/>
                </a:ext>
              </a:extLst>
            </p:cNvPr>
            <p:cNvSpPr/>
            <p:nvPr/>
          </p:nvSpPr>
          <p:spPr>
            <a:xfrm>
              <a:off x="315468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Vencimientos</a:t>
              </a:r>
              <a:endParaRPr lang="es-ES" sz="1200" dirty="0" err="1"/>
            </a:p>
          </p:txBody>
        </p:sp>
        <p:sp>
          <p:nvSpPr>
            <p:cNvPr id="19" name="Shape 29">
              <a:extLst>
                <a:ext uri="{FF2B5EF4-FFF2-40B4-BE49-F238E27FC236}">
                  <a16:creationId xmlns:a16="http://schemas.microsoft.com/office/drawing/2014/main" id="{2721B44A-5C3A-2606-8124-9D01DECEC98E}"/>
                </a:ext>
              </a:extLst>
            </p:cNvPr>
            <p:cNvSpPr/>
            <p:nvPr/>
          </p:nvSpPr>
          <p:spPr>
            <a:xfrm>
              <a:off x="403860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 sz="900"/>
            </a:p>
          </p:txBody>
        </p:sp>
        <p:sp>
          <p:nvSpPr>
            <p:cNvPr id="20" name="Text 30">
              <a:extLst>
                <a:ext uri="{FF2B5EF4-FFF2-40B4-BE49-F238E27FC236}">
                  <a16:creationId xmlns:a16="http://schemas.microsoft.com/office/drawing/2014/main" id="{E41896EA-91BE-F551-ADBF-6A6E31051935}"/>
                </a:ext>
              </a:extLst>
            </p:cNvPr>
            <p:cNvSpPr/>
            <p:nvPr/>
          </p:nvSpPr>
          <p:spPr>
            <a:xfrm>
              <a:off x="403860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Referencias</a:t>
              </a:r>
              <a:endParaRPr lang="en-US" sz="1200" dirty="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" name="Shape 31">
              <a:extLst>
                <a:ext uri="{FF2B5EF4-FFF2-40B4-BE49-F238E27FC236}">
                  <a16:creationId xmlns:a16="http://schemas.microsoft.com/office/drawing/2014/main" id="{60B56E12-E432-5FD2-81E7-5B11B497F24A}"/>
                </a:ext>
              </a:extLst>
            </p:cNvPr>
            <p:cNvSpPr/>
            <p:nvPr/>
          </p:nvSpPr>
          <p:spPr>
            <a:xfrm>
              <a:off x="492252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 32">
              <a:extLst>
                <a:ext uri="{FF2B5EF4-FFF2-40B4-BE49-F238E27FC236}">
                  <a16:creationId xmlns:a16="http://schemas.microsoft.com/office/drawing/2014/main" id="{42CEE03F-0978-0541-94A6-7AD704F9BD3F}"/>
                </a:ext>
              </a:extLst>
            </p:cNvPr>
            <p:cNvSpPr/>
            <p:nvPr/>
          </p:nvSpPr>
          <p:spPr>
            <a:xfrm>
              <a:off x="492252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Ganadas</a:t>
              </a:r>
              <a:r>
                <a:rPr lang="en-US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/</a:t>
              </a:r>
              <a:endParaRPr lang="es-ES" sz="1200" dirty="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Grabadas</a:t>
              </a:r>
              <a:endParaRPr lang="es-ES" sz="1200" dirty="0" err="1">
                <a:ea typeface="Calibri"/>
                <a:cs typeface="Calibri"/>
              </a:endParaRPr>
            </a:p>
          </p:txBody>
        </p:sp>
        <p:sp>
          <p:nvSpPr>
            <p:cNvPr id="23" name="Text 33">
              <a:extLst>
                <a:ext uri="{FF2B5EF4-FFF2-40B4-BE49-F238E27FC236}">
                  <a16:creationId xmlns:a16="http://schemas.microsoft.com/office/drawing/2014/main" id="{FEB8B8C2-A5F2-F799-784C-EB7B709AB63E}"/>
                </a:ext>
              </a:extLst>
            </p:cNvPr>
            <p:cNvSpPr/>
            <p:nvPr/>
          </p:nvSpPr>
          <p:spPr>
            <a:xfrm>
              <a:off x="50292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</a:t>
              </a:r>
              <a:endParaRPr lang="en-US" sz="1500" dirty="0"/>
            </a:p>
          </p:txBody>
        </p:sp>
        <p:sp>
          <p:nvSpPr>
            <p:cNvPr id="24" name="Text 34">
              <a:extLst>
                <a:ext uri="{FF2B5EF4-FFF2-40B4-BE49-F238E27FC236}">
                  <a16:creationId xmlns:a16="http://schemas.microsoft.com/office/drawing/2014/main" id="{06452C32-8935-812A-015B-DFC18A29A0B1}"/>
                </a:ext>
              </a:extLst>
            </p:cNvPr>
            <p:cNvSpPr/>
            <p:nvPr/>
          </p:nvSpPr>
          <p:spPr>
            <a:xfrm>
              <a:off x="138684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25" name="Text 35">
              <a:extLst>
                <a:ext uri="{FF2B5EF4-FFF2-40B4-BE49-F238E27FC236}">
                  <a16:creationId xmlns:a16="http://schemas.microsoft.com/office/drawing/2014/main" id="{B4AE7CEA-433B-0D78-1FCE-6BA87C798065}"/>
                </a:ext>
              </a:extLst>
            </p:cNvPr>
            <p:cNvSpPr/>
            <p:nvPr/>
          </p:nvSpPr>
          <p:spPr>
            <a:xfrm>
              <a:off x="227076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26" name="Text 36">
              <a:extLst>
                <a:ext uri="{FF2B5EF4-FFF2-40B4-BE49-F238E27FC236}">
                  <a16:creationId xmlns:a16="http://schemas.microsoft.com/office/drawing/2014/main" id="{71AB8208-6A3B-5C46-4CC4-F57E513C7197}"/>
                </a:ext>
              </a:extLst>
            </p:cNvPr>
            <p:cNvSpPr/>
            <p:nvPr/>
          </p:nvSpPr>
          <p:spPr>
            <a:xfrm>
              <a:off x="315468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27" name="Text 37">
              <a:extLst>
                <a:ext uri="{FF2B5EF4-FFF2-40B4-BE49-F238E27FC236}">
                  <a16:creationId xmlns:a16="http://schemas.microsoft.com/office/drawing/2014/main" id="{CE5DA11D-5291-38AD-C86B-29E5373479F0}"/>
                </a:ext>
              </a:extLst>
            </p:cNvPr>
            <p:cNvSpPr/>
            <p:nvPr/>
          </p:nvSpPr>
          <p:spPr>
            <a:xfrm>
              <a:off x="403860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500" dirty="0"/>
            </a:p>
          </p:txBody>
        </p:sp>
        <p:sp>
          <p:nvSpPr>
            <p:cNvPr id="28" name="Text 38">
              <a:extLst>
                <a:ext uri="{FF2B5EF4-FFF2-40B4-BE49-F238E27FC236}">
                  <a16:creationId xmlns:a16="http://schemas.microsoft.com/office/drawing/2014/main" id="{F087D256-06E0-27F5-81AC-C36524A181AC}"/>
                </a:ext>
              </a:extLst>
            </p:cNvPr>
            <p:cNvSpPr/>
            <p:nvPr/>
          </p:nvSpPr>
          <p:spPr>
            <a:xfrm>
              <a:off x="492252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500" dirty="0"/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325" dur="indefinite" restart="whenNotActive" nodeType="tmRoot">
          <p:childTnLst>
            <p:seq concurrent="1" nextAc="seek">
              <p:cTn id="326" dur="indefinite" nodeType="mainSeq"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4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300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8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50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2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80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6" dur="7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120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0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120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4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6576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0" b="1" dirty="0">
                <a:solidFill>
                  <a:srgbClr val="EE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acción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voy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hacer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. Una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palanca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distinta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persona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durante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próximos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meses.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  <p:timing>
    <p:tnLst>
      <p:par>
        <p:cTn id="345" dur="indefinite" restart="whenNotActive" nodeType="tmRoot">
          <p:childTnLst>
            <p:seq concurrent="1" nextAc="seek">
              <p:cTn id="346" dur="indefinite" nodeType="mainSeq"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parent" path="M 0 0.25 L 0 0" pathEditMode="relative" dir="0">
                                      <p:cBhvr>
                                        <p:cTn id="331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50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6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80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105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4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57784"/>
            <a:ext cx="292608" cy="41148"/>
          </a:xfrm>
          <a:prstGeom prst="rect">
            <a:avLst/>
          </a:prstGeom>
          <a:solidFill>
            <a:srgbClr val="2E9BE6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PALANCA DISTINTA PARA CADA UNO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El plan, persona a persona</a:t>
            </a:r>
            <a:endParaRPr lang="en-US" sz="32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37360"/>
            <a:ext cx="52578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928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2219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VENDEDOR LABORAL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260371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Font typeface=""/>
              <a:buChar char="•"/>
            </a:pPr>
            <a:r>
              <a:rPr lang="es-ES" sz="1200"/>
              <a:t>Plan de acción 3 meses</a:t>
            </a:r>
          </a:p>
          <a:p>
            <a:pPr>
              <a:buFont typeface=""/>
              <a:buChar char="•"/>
            </a:pPr>
            <a:r>
              <a:rPr lang="es-ES" sz="1200"/>
              <a:t>Revisión diaria de paneles, prácticas telefónicas y teatro de ventas</a:t>
            </a:r>
          </a:p>
          <a:p>
            <a:pPr>
              <a:buFont typeface=""/>
              <a:buChar char="•"/>
            </a:pPr>
            <a:r>
              <a:rPr lang="es-ES" sz="1200"/>
              <a:t>Que imparta él una formación grupal</a:t>
            </a:r>
            <a:endParaRPr lang="en-US" sz="120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69164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737360"/>
            <a:ext cx="52578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928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2219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CICLO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" y="4069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DB277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114800"/>
            <a:ext cx="5257800" cy="4572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2702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51560" y="459943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CICLO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4069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406908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4114800"/>
            <a:ext cx="52578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2702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Ibtisam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37960" y="459943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1.ER CICLO</a:t>
            </a:r>
            <a:endParaRPr lang="en-US" sz="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2592757-3A98-2714-B5A1-AB6709AB97AE}"/>
              </a:ext>
            </a:extLst>
          </p:cNvPr>
          <p:cNvSpPr txBox="1"/>
          <p:nvPr/>
        </p:nvSpPr>
        <p:spPr>
          <a:xfrm>
            <a:off x="6262915" y="2543628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Candidata a gestora comercial</a:t>
            </a:r>
          </a:p>
          <a:p>
            <a:pPr>
              <a:buFont typeface=""/>
              <a:buChar char="•"/>
            </a:pPr>
            <a:r>
              <a:rPr lang="en-US"/>
              <a:t>Teatro de venta 2 días/semana para ganar autonomía en cierres</a:t>
            </a:r>
          </a:p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0D5590F-CFD5-8515-D259-78C10D1B9BDB}"/>
              </a:ext>
            </a:extLst>
          </p:cNvPr>
          <p:cNvSpPr txBox="1"/>
          <p:nvPr/>
        </p:nvSpPr>
        <p:spPr>
          <a:xfrm>
            <a:off x="776514" y="4836886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No ve utilidad a la Tablet</a:t>
            </a:r>
          </a:p>
          <a:p>
            <a:pPr>
              <a:buFont typeface=""/>
              <a:buChar char="•"/>
            </a:pPr>
            <a:r>
              <a:rPr lang="en-US"/>
              <a:t>Mostrar casos reales de oportunidades perdidas</a:t>
            </a:r>
          </a:p>
          <a:p>
            <a:pPr>
              <a:buFont typeface=""/>
              <a:buChar char="•"/>
            </a:pPr>
            <a:r>
              <a:rPr lang="en-US"/>
              <a:t>3 despachos semanales de seguimiento de actividad</a:t>
            </a:r>
          </a:p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25AAC95-80AA-E60E-23F6-D9386BDEBA2F}"/>
              </a:ext>
            </a:extLst>
          </p:cNvPr>
          <p:cNvSpPr txBox="1"/>
          <p:nvPr/>
        </p:nvSpPr>
        <p:spPr>
          <a:xfrm>
            <a:off x="6371771" y="482962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Muchas llamadas pero pocas entrevistas</a:t>
            </a:r>
          </a:p>
          <a:p>
            <a:pPr>
              <a:buFont typeface=""/>
              <a:buChar char="•"/>
            </a:pPr>
            <a:r>
              <a:rPr lang="en-US"/>
              <a:t>Prácticas telefónicas para mejorar concertación</a:t>
            </a:r>
          </a:p>
          <a:p>
            <a:pPr>
              <a:buFont typeface=""/>
              <a:buChar char="•"/>
            </a:pPr>
            <a:r>
              <a:rPr lang="en-US"/>
              <a:t>Rosa como referente y ejemplo</a:t>
            </a:r>
          </a:p>
          <a:p>
            <a:pPr algn="ctr"/>
            <a:endParaRPr lang="es-ES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62C6ED1-8308-2F63-1888-58AEACF6704B}"/>
              </a:ext>
            </a:extLst>
          </p:cNvPr>
          <p:cNvGrpSpPr/>
          <p:nvPr/>
        </p:nvGrpSpPr>
        <p:grpSpPr>
          <a:xfrm>
            <a:off x="6098177" y="160238"/>
            <a:ext cx="5426891" cy="1419496"/>
            <a:chOff x="5684520" y="573896"/>
            <a:chExt cx="5303520" cy="914400"/>
          </a:xfrm>
        </p:grpSpPr>
        <p:sp>
          <p:nvSpPr>
            <p:cNvPr id="37" name="Text 19">
              <a:extLst>
                <a:ext uri="{FF2B5EF4-FFF2-40B4-BE49-F238E27FC236}">
                  <a16:creationId xmlns:a16="http://schemas.microsoft.com/office/drawing/2014/main" id="{710E2AD4-7986-1E4D-776E-E77DC399208B}"/>
                </a:ext>
              </a:extLst>
            </p:cNvPr>
            <p:cNvSpPr/>
            <p:nvPr/>
          </p:nvSpPr>
          <p:spPr>
            <a:xfrm>
              <a:off x="5684520" y="573896"/>
              <a:ext cx="5303520" cy="20116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0055A4"/>
                  </a:solidFill>
                  <a:latin typeface="Calibri"/>
                  <a:ea typeface="Calibri"/>
                  <a:cs typeface="Calibri"/>
                </a:rPr>
                <a:t>ESTÁNDAR SEMANAL POR VENDEDOR</a:t>
              </a:r>
              <a:endParaRPr lang="en-US"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8" name="Shape 20">
              <a:extLst>
                <a:ext uri="{FF2B5EF4-FFF2-40B4-BE49-F238E27FC236}">
                  <a16:creationId xmlns:a16="http://schemas.microsoft.com/office/drawing/2014/main" id="{67482C69-DFAC-5E9E-F16E-864A43298FF6}"/>
                </a:ext>
              </a:extLst>
            </p:cNvPr>
            <p:cNvSpPr/>
            <p:nvPr/>
          </p:nvSpPr>
          <p:spPr>
            <a:xfrm>
              <a:off x="5684520" y="853534"/>
              <a:ext cx="5303520" cy="621007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50800" dist="12700" dir="27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39" name="Shape 21">
              <a:extLst>
                <a:ext uri="{FF2B5EF4-FFF2-40B4-BE49-F238E27FC236}">
                  <a16:creationId xmlns:a16="http://schemas.microsoft.com/office/drawing/2014/main" id="{9A5FBD97-6941-9741-02CB-E0740A3EFB22}"/>
                </a:ext>
              </a:extLst>
            </p:cNvPr>
            <p:cNvSpPr/>
            <p:nvPr/>
          </p:nvSpPr>
          <p:spPr>
            <a:xfrm>
              <a:off x="568452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 sz="1200"/>
            </a:p>
          </p:txBody>
        </p:sp>
        <p:sp>
          <p:nvSpPr>
            <p:cNvPr id="40" name="Text 22">
              <a:extLst>
                <a:ext uri="{FF2B5EF4-FFF2-40B4-BE49-F238E27FC236}">
                  <a16:creationId xmlns:a16="http://schemas.microsoft.com/office/drawing/2014/main" id="{83A5CD32-C1E6-FAAE-D270-D9D46B4797A9}"/>
                </a:ext>
              </a:extLst>
            </p:cNvPr>
            <p:cNvSpPr/>
            <p:nvPr/>
          </p:nvSpPr>
          <p:spPr>
            <a:xfrm>
              <a:off x="568452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Llamadas</a:t>
              </a:r>
              <a:endParaRPr lang="en-US" sz="1200" b="1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41" name="Shape 23">
              <a:extLst>
                <a:ext uri="{FF2B5EF4-FFF2-40B4-BE49-F238E27FC236}">
                  <a16:creationId xmlns:a16="http://schemas.microsoft.com/office/drawing/2014/main" id="{20648532-7017-8115-79CB-695A4910137C}"/>
                </a:ext>
              </a:extLst>
            </p:cNvPr>
            <p:cNvSpPr/>
            <p:nvPr/>
          </p:nvSpPr>
          <p:spPr>
            <a:xfrm>
              <a:off x="656844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A9AF3DFE-1E90-B35A-16EA-9D6019D8A081}"/>
                </a:ext>
              </a:extLst>
            </p:cNvPr>
            <p:cNvSpPr/>
            <p:nvPr/>
          </p:nvSpPr>
          <p:spPr>
            <a:xfrm>
              <a:off x="656844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Entrevistas</a:t>
              </a:r>
            </a:p>
          </p:txBody>
        </p:sp>
        <p:sp>
          <p:nvSpPr>
            <p:cNvPr id="43" name="Shape 25">
              <a:extLst>
                <a:ext uri="{FF2B5EF4-FFF2-40B4-BE49-F238E27FC236}">
                  <a16:creationId xmlns:a16="http://schemas.microsoft.com/office/drawing/2014/main" id="{587434B1-C781-1DAB-081C-17FEC4FB9AF7}"/>
                </a:ext>
              </a:extLst>
            </p:cNvPr>
            <p:cNvSpPr/>
            <p:nvPr/>
          </p:nvSpPr>
          <p:spPr>
            <a:xfrm>
              <a:off x="745236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44" name="Text 26">
              <a:extLst>
                <a:ext uri="{FF2B5EF4-FFF2-40B4-BE49-F238E27FC236}">
                  <a16:creationId xmlns:a16="http://schemas.microsoft.com/office/drawing/2014/main" id="{E9D6F8DA-8DB5-F20B-8B2D-D80F63274077}"/>
                </a:ext>
              </a:extLst>
            </p:cNvPr>
            <p:cNvSpPr/>
            <p:nvPr/>
          </p:nvSpPr>
          <p:spPr>
            <a:xfrm>
              <a:off x="745236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Presupuestos</a:t>
              </a:r>
              <a:endParaRPr lang="es-ES" sz="1200" dirty="0" err="1"/>
            </a:p>
          </p:txBody>
        </p:sp>
        <p:sp>
          <p:nvSpPr>
            <p:cNvPr id="45" name="Shape 27">
              <a:extLst>
                <a:ext uri="{FF2B5EF4-FFF2-40B4-BE49-F238E27FC236}">
                  <a16:creationId xmlns:a16="http://schemas.microsoft.com/office/drawing/2014/main" id="{F16D751D-B37A-825D-8F37-39576BA149EA}"/>
                </a:ext>
              </a:extLst>
            </p:cNvPr>
            <p:cNvSpPr/>
            <p:nvPr/>
          </p:nvSpPr>
          <p:spPr>
            <a:xfrm>
              <a:off x="833628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46" name="Text 28">
              <a:extLst>
                <a:ext uri="{FF2B5EF4-FFF2-40B4-BE49-F238E27FC236}">
                  <a16:creationId xmlns:a16="http://schemas.microsoft.com/office/drawing/2014/main" id="{4C702FF9-B8A9-EB75-C28E-6B6A6FE6EBB2}"/>
                </a:ext>
              </a:extLst>
            </p:cNvPr>
            <p:cNvSpPr/>
            <p:nvPr/>
          </p:nvSpPr>
          <p:spPr>
            <a:xfrm>
              <a:off x="833628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Vencimientos</a:t>
              </a:r>
              <a:endParaRPr lang="es-ES" sz="1200" dirty="0" err="1"/>
            </a:p>
          </p:txBody>
        </p:sp>
        <p:sp>
          <p:nvSpPr>
            <p:cNvPr id="47" name="Shape 29">
              <a:extLst>
                <a:ext uri="{FF2B5EF4-FFF2-40B4-BE49-F238E27FC236}">
                  <a16:creationId xmlns:a16="http://schemas.microsoft.com/office/drawing/2014/main" id="{65E6C7C7-61CE-E4BD-A241-126A03ED0491}"/>
                </a:ext>
              </a:extLst>
            </p:cNvPr>
            <p:cNvSpPr/>
            <p:nvPr/>
          </p:nvSpPr>
          <p:spPr>
            <a:xfrm>
              <a:off x="922020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 sz="900"/>
            </a:p>
          </p:txBody>
        </p:sp>
        <p:sp>
          <p:nvSpPr>
            <p:cNvPr id="48" name="Text 30">
              <a:extLst>
                <a:ext uri="{FF2B5EF4-FFF2-40B4-BE49-F238E27FC236}">
                  <a16:creationId xmlns:a16="http://schemas.microsoft.com/office/drawing/2014/main" id="{1B7F9E59-6758-30BE-38E2-F0E5A62DFB7F}"/>
                </a:ext>
              </a:extLst>
            </p:cNvPr>
            <p:cNvSpPr/>
            <p:nvPr/>
          </p:nvSpPr>
          <p:spPr>
            <a:xfrm>
              <a:off x="922020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Referencias</a:t>
              </a:r>
              <a:endParaRPr lang="en-US" sz="1200" dirty="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E927B9E-5179-358F-6BC9-B06882B2DAC9}"/>
                </a:ext>
              </a:extLst>
            </p:cNvPr>
            <p:cNvSpPr/>
            <p:nvPr/>
          </p:nvSpPr>
          <p:spPr>
            <a:xfrm>
              <a:off x="1010412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50" name="Text 32">
              <a:extLst>
                <a:ext uri="{FF2B5EF4-FFF2-40B4-BE49-F238E27FC236}">
                  <a16:creationId xmlns:a16="http://schemas.microsoft.com/office/drawing/2014/main" id="{79E45AEC-4037-748A-990F-99ADD53E1854}"/>
                </a:ext>
              </a:extLst>
            </p:cNvPr>
            <p:cNvSpPr/>
            <p:nvPr/>
          </p:nvSpPr>
          <p:spPr>
            <a:xfrm>
              <a:off x="1010412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Ganadas</a:t>
              </a:r>
              <a:r>
                <a:rPr lang="en-US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/</a:t>
              </a:r>
              <a:endParaRPr lang="es-ES" sz="1200" dirty="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Grabadas</a:t>
              </a:r>
              <a:endParaRPr lang="es-ES" sz="1200" dirty="0" err="1">
                <a:ea typeface="Calibri"/>
                <a:cs typeface="Calibri"/>
              </a:endParaRPr>
            </a:p>
          </p:txBody>
        </p:sp>
        <p:sp>
          <p:nvSpPr>
            <p:cNvPr id="51" name="Text 33">
              <a:extLst>
                <a:ext uri="{FF2B5EF4-FFF2-40B4-BE49-F238E27FC236}">
                  <a16:creationId xmlns:a16="http://schemas.microsoft.com/office/drawing/2014/main" id="{01734833-EF17-255E-C3FE-F725D5810145}"/>
                </a:ext>
              </a:extLst>
            </p:cNvPr>
            <p:cNvSpPr/>
            <p:nvPr/>
          </p:nvSpPr>
          <p:spPr>
            <a:xfrm>
              <a:off x="568452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</a:t>
              </a:r>
              <a:endParaRPr lang="en-US" sz="1500" dirty="0"/>
            </a:p>
          </p:txBody>
        </p:sp>
        <p:sp>
          <p:nvSpPr>
            <p:cNvPr id="52" name="Text 34">
              <a:extLst>
                <a:ext uri="{FF2B5EF4-FFF2-40B4-BE49-F238E27FC236}">
                  <a16:creationId xmlns:a16="http://schemas.microsoft.com/office/drawing/2014/main" id="{25708534-F070-62F1-564B-4A544C351828}"/>
                </a:ext>
              </a:extLst>
            </p:cNvPr>
            <p:cNvSpPr/>
            <p:nvPr/>
          </p:nvSpPr>
          <p:spPr>
            <a:xfrm>
              <a:off x="656844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53" name="Text 35">
              <a:extLst>
                <a:ext uri="{FF2B5EF4-FFF2-40B4-BE49-F238E27FC236}">
                  <a16:creationId xmlns:a16="http://schemas.microsoft.com/office/drawing/2014/main" id="{BEB59DED-51C7-A264-FA19-EABD74EF59CF}"/>
                </a:ext>
              </a:extLst>
            </p:cNvPr>
            <p:cNvSpPr/>
            <p:nvPr/>
          </p:nvSpPr>
          <p:spPr>
            <a:xfrm>
              <a:off x="745236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54" name="Text 36">
              <a:extLst>
                <a:ext uri="{FF2B5EF4-FFF2-40B4-BE49-F238E27FC236}">
                  <a16:creationId xmlns:a16="http://schemas.microsoft.com/office/drawing/2014/main" id="{A51963C4-91D2-93AB-5499-3550784F95DC}"/>
                </a:ext>
              </a:extLst>
            </p:cNvPr>
            <p:cNvSpPr/>
            <p:nvPr/>
          </p:nvSpPr>
          <p:spPr>
            <a:xfrm>
              <a:off x="833628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55" name="Text 37">
              <a:extLst>
                <a:ext uri="{FF2B5EF4-FFF2-40B4-BE49-F238E27FC236}">
                  <a16:creationId xmlns:a16="http://schemas.microsoft.com/office/drawing/2014/main" id="{B4C0112F-B198-5D68-90DF-6193823F1E44}"/>
                </a:ext>
              </a:extLst>
            </p:cNvPr>
            <p:cNvSpPr/>
            <p:nvPr/>
          </p:nvSpPr>
          <p:spPr>
            <a:xfrm>
              <a:off x="922020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500" dirty="0"/>
            </a:p>
          </p:txBody>
        </p:sp>
        <p:sp>
          <p:nvSpPr>
            <p:cNvPr id="56" name="Text 38">
              <a:extLst>
                <a:ext uri="{FF2B5EF4-FFF2-40B4-BE49-F238E27FC236}">
                  <a16:creationId xmlns:a16="http://schemas.microsoft.com/office/drawing/2014/main" id="{30805F51-AE48-189A-BE19-1EA724AF9AFD}"/>
                </a:ext>
              </a:extLst>
            </p:cNvPr>
            <p:cNvSpPr/>
            <p:nvPr/>
          </p:nvSpPr>
          <p:spPr>
            <a:xfrm>
              <a:off x="1010412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500" dirty="0"/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455" dur="indefinite" restart="whenNotActive" nodeType="tmRoot">
          <p:childTnLst>
            <p:seq concurrent="1" nextAc="seek">
              <p:cTn id="456" dur="indefinite" nodeType="mainSeq"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30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4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700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8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70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2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70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6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70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0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70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4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70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8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110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2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110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6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110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0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110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4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1100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0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8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110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2" dur="4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150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6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150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0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150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ntr" presetSubtype="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4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150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0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8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150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0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2" dur="4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150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6" dur="4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190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0" dur="4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190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ntr" presetSubtype="0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4" dur="4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190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0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8" dur="4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190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0" presetClass="entr" presetSubtype="0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2" dur="4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190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0" presetClass="entr" presetSubtype="0" fill="hold" grpId="2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6" dur="4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190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0" presetClass="entr" presetSubtype="0" fill="hold" grpId="2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0" dur="4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230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0" presetClass="entr" presetSubtype="0" fill="hold" grpId="2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4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" cy="45720"/>
          </a:xfrm>
          <a:prstGeom prst="rect">
            <a:avLst/>
          </a:prstGeom>
          <a:solidFill>
            <a:srgbClr val="006D85"/>
          </a:solidFill>
          <a:ln w="12700">
            <a:solidFill>
              <a:srgbClr val="006D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semanal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987552"/>
            <a:ext cx="10789920" cy="347472"/>
          </a:xfrm>
          <a:prstGeom prst="roundRect">
            <a:avLst>
              <a:gd name="adj" fmla="val 21053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178662"/>
            <a:ext cx="10789920" cy="15636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18104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76088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34072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92056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1335024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229868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0120" y="1866198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761042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2397372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292216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2928546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823390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60120" y="3459720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354564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4468950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4363794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0120" y="5000124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894968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60120" y="5531298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5426142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0120" y="6062472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5957316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" y="1600611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20624" y="1509171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60120" y="2131785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20624" y="2040345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60120" y="2662959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20624" y="2571519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60120" y="3194133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20624" y="3102693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60120" y="3725307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20624" y="3633867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60120" y="4734537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20624" y="4643097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17:30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60120" y="5265711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20624" y="5174271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60120" y="5796885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20624" y="5705445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19:30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60120" y="3990894"/>
            <a:ext cx="10789920" cy="212470"/>
          </a:xfrm>
          <a:prstGeom prst="rect">
            <a:avLst/>
          </a:prstGeom>
          <a:solidFill>
            <a:srgbClr val="EDF2F7"/>
          </a:solidFill>
          <a:ln w="12700">
            <a:solidFill>
              <a:srgbClr val="E5EB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4014832"/>
            <a:ext cx="10607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 · · · · · · · · · · · · · · · · · · · · · · · · · · · · · · · · · · · · · · · · · · · ·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18104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76088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34072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92056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0412" y="1364285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65276" y="1364285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gerente (30MIN)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010412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065276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María (1H)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10412" y="2426633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065276" y="2426633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Rosa (1H)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10412" y="2957807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065276" y="2957807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Ibtisam (1H)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010412" y="3488981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65276" y="3488981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Diego (1H)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10412" y="4498211"/>
            <a:ext cx="2057400" cy="738239"/>
          </a:xfrm>
          <a:prstGeom prst="roundRect">
            <a:avLst>
              <a:gd name="adj" fmla="val 619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065276" y="4498211"/>
            <a:ext cx="1947672" cy="7382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María (1H30MIN)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010412" y="5294972"/>
            <a:ext cx="2057400" cy="738239"/>
          </a:xfrm>
          <a:prstGeom prst="roundRect">
            <a:avLst>
              <a:gd name="adj" fmla="val 619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065276" y="5294972"/>
            <a:ext cx="1947672" cy="7382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Ibtisam (1H30MIN)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168396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223260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Diego (30MIN)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168396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223260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grupal agencia · Hogar Premium (todos)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(impartido por Diego) (1H)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168396" y="2426633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223260" y="2426633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teatro de venta · María (30MIN)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168396" y="2957807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223260" y="2957807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Rosa (1H)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168396" y="4498211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223260" y="4498211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Diego (técnicas comerciales) (1H)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168396" y="5029385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223260" y="5029385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Diego (remoto) (1H)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326380" y="1364285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381244" y="1364285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gerente (30MIN)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5326380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381244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Rosa (30MIN)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326380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5381244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Ibtisam + Teatro de ventas (1h) (1H)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326380" y="2426633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5381244" y="2426633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teatro de venta · María (30MIN)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326380" y="2957807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5381244" y="2957807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María (1H)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326380" y="4498211"/>
            <a:ext cx="2057400" cy="1535000"/>
          </a:xfrm>
          <a:prstGeom prst="roundRect">
            <a:avLst>
              <a:gd name="adj" fmla="val 2979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5381244" y="4498211"/>
            <a:ext cx="1947672" cy="15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comercios · María, Rosa, Diego, Ibtisam (3H)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484364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7539228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Rosa (30MIN)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7484364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539228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grupal agencia Hogar completo (todos) (1H)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484364" y="2426633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7539228" y="2426633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teatro de venta · Diego (1H)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484364" y="4498211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7539228" y="4498211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(remoto) · María (1H)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484364" y="5029385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7539228" y="5029385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(remoto) · Rosa (1H)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484364" y="55605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539228" y="55605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Diego (remoto) (1H)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42348" y="1364285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9697212" y="1364285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gerente (30MIN)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9642348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9697212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Rosa (30MIN)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9642348" y="1895459"/>
            <a:ext cx="2057400" cy="738239"/>
          </a:xfrm>
          <a:prstGeom prst="roundRect">
            <a:avLst>
              <a:gd name="adj" fmla="val 6193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9697212" y="1895459"/>
            <a:ext cx="1947672" cy="7382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obligatoria quincenal (todos) (1H30MIN)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9642348" y="3223394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9697212" y="3223394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Ibtisam (remoto) (1H)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9642348" y="4232624"/>
            <a:ext cx="2057400" cy="1535000"/>
          </a:xfrm>
          <a:prstGeom prst="roundRect">
            <a:avLst>
              <a:gd name="adj" fmla="val 2979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9697212" y="4232624"/>
            <a:ext cx="1947672" cy="15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pueblos · Todos (3H)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0972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972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213664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13664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16356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6356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19048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19048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Ibtisam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821740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1740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1024432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24432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49379728"/>
      </p:ext>
    </p:extLst>
  </p:cSld>
  <p:clrMapOvr>
    <a:masterClrMapping/>
  </p:clrMapOvr>
  <p:transition spd="fast">
    <p:fade/>
  </p:transition>
  <p:timing>
    <p:tnLst>
      <p:par>
        <p:cTn id="701" dur="indefinite" restart="whenNotActive" nodeType="tmRoot">
          <p:childTnLst>
            <p:seq concurrent="1" nextAc="seek">
              <p:cTn id="702" dur="indefinite" nodeType="mainSeq"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0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4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40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8" dur="3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40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2" dur="3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40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6" dur="3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40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0" dur="3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40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4" dur="3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70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8" dur="3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70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2" dur="3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70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6" dur="3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70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0" dur="3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70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4" dur="3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700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0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8" dur="3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70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2" dur="3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70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6" dur="3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70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0" dur="3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70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0" presetClass="entr" presetSubtype="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4" dur="3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70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0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8" dur="3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70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10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2" dur="3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70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6" dur="3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70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0" dur="3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70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10" presetClass="entr" presetSubtype="0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4" dur="30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70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presetID="10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8" dur="30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70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0" presetClass="entr" presetSubtype="0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2" dur="30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70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0" presetClass="entr" presetSubtype="0" fill="hold" grpId="2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6" dur="30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110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0" presetClass="entr" presetSubtype="0" fill="hold" grpId="2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0" dur="400" fill="hold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110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10" presetClass="entr" presetSubtype="0" fill="hold" grpId="2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4" dur="400" fill="hold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1100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presetID="10" presetClass="entr" presetSubtype="0" fill="hold" grpId="2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8" dur="400" fill="hold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1100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0" presetClass="entr" presetSubtype="0" fill="hold" grpId="2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2" dur="400" fill="hold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110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0" presetClass="entr" presetSubtype="0" fill="hold" grpId="2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6" dur="400" fill="hold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110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10" presetClass="entr" presetSubtype="0" fill="hold" grpId="3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0" dur="400" fill="hold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110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0" presetClass="entr" presetSubtype="0" fill="hold" grpId="3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4" dur="400" fill="hold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1100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10" presetClass="entr" presetSubtype="0" fill="hold" grpId="3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8" dur="400" fill="hold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110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10" presetClass="entr" presetSubtype="0" fill="hold" grpId="3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2" dur="400" fill="hold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110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3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6" dur="400" fill="hold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7" fill="hold">
                      <p:stCondLst>
                        <p:cond delay="110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10" presetClass="entr" presetSubtype="0" fill="hold" grpId="3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0" dur="400" fill="hold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110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10" presetClass="entr" presetSubtype="0" fill="hold" grpId="3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4" dur="400" fill="hold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1100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10" presetClass="entr" presetSubtype="0" fill="hold" grpId="3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8" dur="400" fill="hold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110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0" presetClass="entr" presetSubtype="0" fill="hold" grpId="3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2" dur="400" fill="hold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110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10" presetClass="entr" presetSubtype="0" fill="hold" grpId="3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6" dur="400" fill="hold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110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10" presetClass="entr" presetSubtype="0" fill="hold" grpId="4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0" dur="400" fill="hold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110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0" presetClass="entr" presetSubtype="0" fill="hold" grpId="4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4" dur="400" fill="hold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1100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presetID="10" presetClass="entr" presetSubtype="0" fill="hold" grpId="4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8" dur="400" fill="hold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>
                      <p:stCondLst>
                        <p:cond delay="110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presetID="10" presetClass="entr" presetSubtype="0" fill="hold" grpId="4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2" dur="400" fill="hold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110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presetSubtype="0" fill="hold" grpId="4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6" dur="400" fill="hold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110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10" presetClass="entr" presetSubtype="0" fill="hold" grpId="4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0" dur="400" fill="hold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110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0" presetClass="entr" presetSubtype="0" fill="hold" grpId="4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4" dur="400" fill="hold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110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0" presetClass="entr" presetSubtype="0" fill="hold" grpId="4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8" dur="400" fill="hold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110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10" presetClass="entr" presetSubtype="0" fill="hold" grpId="4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2" dur="400" fill="hold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1100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10" presetClass="entr" presetSubtype="0" fill="hold" grpId="4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6" dur="400" fill="hold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110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0" presetClass="entr" presetSubtype="0" fill="hold" grpId="5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0" dur="400" fill="hold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fill="hold">
                      <p:stCondLst>
                        <p:cond delay="110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ntr" presetSubtype="0" fill="hold" grpId="5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4" dur="400" fill="hold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5" fill="hold">
                      <p:stCondLst>
                        <p:cond delay="110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10" presetClass="entr" presetSubtype="0" fill="hold" grpId="5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8" dur="400" fill="hold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110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0" presetClass="entr" presetSubtype="0" fill="hold" grpId="5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2" dur="400" fill="hold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1100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10" presetClass="entr" presetSubtype="0" fill="hold" grpId="5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6" dur="400" fill="hold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160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10" presetClass="entr" presetSubtype="0" fill="hold" grpId="5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0" dur="400" fill="hold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160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10" presetClass="entr" presetSubtype="0" fill="hold" grpId="5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4" dur="400" fill="hold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1600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presetID="10" presetClass="entr" presetSubtype="0" fill="hold" grpId="5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8" dur="400" fill="hold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160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ntr" presetSubtype="0" fill="hold" grpId="5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2" dur="400" fill="hold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160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0" presetClass="entr" presetSubtype="0" fill="hold" grpId="59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6" dur="400" fill="hold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160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10" presetClass="entr" presetSubtype="0" fill="hold" grpId="6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0" dur="400" fill="hold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6224F"/>
          </a:solidFill>
          <a:ln/>
        </p:spPr>
      </p:sp>
      <p:sp>
        <p:nvSpPr>
          <p:cNvPr id="4" name="Text 2"/>
          <p:cNvSpPr/>
          <p:nvPr/>
        </p:nvSpPr>
        <p:spPr>
          <a:xfrm>
            <a:off x="793931" y="2069011"/>
            <a:ext cx="10014858" cy="282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44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Llegar</a:t>
            </a:r>
            <a:r>
              <a:rPr lang="en-US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juntos</a:t>
            </a:r>
            <a:r>
              <a:rPr lang="en-US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es el principio,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mantenerse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juntos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el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progreso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y </a:t>
            </a:r>
          </a:p>
          <a:p>
            <a:pPr>
              <a:lnSpc>
                <a:spcPct val="110000"/>
              </a:lnSpc>
            </a:pP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trabajar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juntos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el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éxito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4400" b="1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4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59436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5943600"/>
            <a:ext cx="274320" cy="27432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59436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594360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0" y="5210629"/>
            <a:ext cx="3566160" cy="1043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>
                <a:solidFill>
                  <a:srgbClr val="5B7CA6"/>
                </a:solidFill>
                <a:latin typeface="Calibri"/>
                <a:ea typeface="Calibri"/>
                <a:cs typeface="Calibri"/>
              </a:rPr>
              <a:t>ESTUDIO Y ANÁLISIS - CASO 2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r"/>
            <a:r>
              <a:rPr lang="en-US" sz="2000" dirty="0">
                <a:solidFill>
                  <a:srgbClr val="5B7CA6"/>
                </a:solidFill>
                <a:latin typeface="Calibri"/>
                <a:ea typeface="Calibri"/>
                <a:cs typeface="Calibri"/>
              </a:rPr>
              <a:t>Javier  Jiménez </a:t>
            </a:r>
            <a:r>
              <a:rPr lang="en-US" sz="2000" dirty="0" err="1">
                <a:solidFill>
                  <a:srgbClr val="5B7CA6"/>
                </a:solidFill>
                <a:latin typeface="Calibri"/>
                <a:ea typeface="Calibri"/>
                <a:cs typeface="Calibri"/>
              </a:rPr>
              <a:t>Durá</a:t>
            </a:r>
            <a:endParaRPr lang="en-US" sz="2000">
              <a:ea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  <p:timing>
    <p:tnLst>
      <p:par>
        <p:cTn id="717" dur="indefinite" restart="whenNotActive" nodeType="tmRoot">
          <p:childTnLst>
            <p:seq concurrent="1" nextAc="seek">
              <p:cTn id="718" dur="indefinite" nodeType="mainSeq">
                <p:childTnLst>
                  <p:par>
                    <p:cTn id="703" fill="hold">
                      <p:stCondLst>
                        <p:cond delay="300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6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100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parent" path="M 0 0.25 L 0 0" pathEditMode="relative" dir="0">
                                      <p:cBhvr>
                                        <p:cTn id="71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3" fill="hold">
                      <p:stCondLst>
                        <p:cond delay="1500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6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y análisis · Mi llegada al equipo</dc:title>
  <dc:subject>PptxGenJS Presentation</dc:subject>
  <dc:creator>Javier</dc:creator>
  <cp:lastModifiedBy>Javier</cp:lastModifiedBy>
  <cp:revision>267</cp:revision>
  <dcterms:created xsi:type="dcterms:W3CDTF">2026-06-27T06:23:42Z</dcterms:created>
  <dcterms:modified xsi:type="dcterms:W3CDTF">2026-06-27T16:13:01Z</dcterms:modified>
</cp:coreProperties>
</file>