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60" r:id="rId5"/>
    <p:sldId id="262" r:id="rId6"/>
    <p:sldId id="263" r:id="rId7"/>
    <p:sldId id="268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577"/>
    <a:srgbClr val="7A4CE7"/>
    <a:srgbClr val="2A96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7DD4B-6854-4C98-A130-6C279259FC7B}" v="675" dt="2026-06-27T16:12:35.871"/>
    <p1510:client id="{B22E6882-2742-492E-BC2E-A18E4A1519D5}" v="1" dt="2026-06-27T07:51:53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14A25-0B1A-45A0-9444-43973B58CF29}" type="datetimeFigureOut">
              <a:t>27/06/2026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7CE7C-1C66-4525-ABA4-A77333E715FD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013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645920"/>
            <a:ext cx="5943600" cy="5943600"/>
          </a:xfrm>
          <a:prstGeom prst="ellipse">
            <a:avLst/>
          </a:prstGeom>
          <a:solidFill>
            <a:srgbClr val="06224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114800" cy="4114800"/>
          </a:xfrm>
          <a:prstGeom prst="ellipse">
            <a:avLst/>
          </a:prstGeom>
          <a:solidFill>
            <a:srgbClr val="06224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5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ACADEMIA · SALES ACADEMY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</a:t>
            </a:r>
            <a:endParaRPr lang="en-US" sz="6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análisis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9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5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llegada al equipo como nuevo responsable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5440680"/>
            <a:ext cx="10332720" cy="0"/>
          </a:xfrm>
          <a:prstGeom prst="line">
            <a:avLst/>
          </a:prstGeom>
          <a:noFill/>
          <a:ln w="12700">
            <a:solidFill>
              <a:srgbClr val="2A4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5B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5943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Javier Jiménez </a:t>
            </a:r>
            <a:r>
              <a:rPr lang="en-US" sz="12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Durá</a:t>
            </a:r>
            <a:endParaRPr lang="en-US" sz="1250" dirty="0" err="1"/>
          </a:p>
        </p:txBody>
      </p:sp>
      <p:sp>
        <p:nvSpPr>
          <p:cNvPr id="11" name="Text 9"/>
          <p:cNvSpPr/>
          <p:nvPr/>
        </p:nvSpPr>
        <p:spPr>
          <a:xfrm>
            <a:off x="448056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5B7CA6"/>
                </a:solidFill>
                <a:ea typeface="Calibri"/>
                <a:cs typeface="Calibri"/>
              </a:rPr>
              <a:t>ÁREA</a:t>
            </a:r>
            <a:endParaRPr lang="en-US" sz="950" b="1" kern="0" spc="300" dirty="0">
              <a:solidFill>
                <a:srgbClr val="5B7CA6"/>
              </a:solidFill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80560" y="5943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>
                <a:solidFill>
                  <a:srgbClr val="FFFFFF"/>
                </a:solidFill>
                <a:ea typeface="Calibri"/>
                <a:cs typeface="Calibri"/>
              </a:rPr>
              <a:t>ASNORTE ALS – Zaragoza Delicias</a:t>
            </a:r>
            <a:endParaRPr lang="en-US" sz="125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274320"/>
            <a:ext cx="36576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0" b="1" dirty="0">
                <a:solidFill>
                  <a:srgbClr val="EE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situación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57784"/>
            <a:ext cx="292608" cy="41148"/>
          </a:xfrm>
          <a:prstGeom prst="rect">
            <a:avLst/>
          </a:prstGeom>
          <a:solidFill>
            <a:srgbClr val="2E9BE6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E9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Llego como nuevo responsable</a:t>
            </a:r>
            <a:endParaRPr lang="en-US" sz="3200" dirty="0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83B59462-8F7A-C210-F8CA-BE6B961FD3D6}"/>
              </a:ext>
            </a:extLst>
          </p:cNvPr>
          <p:cNvGrpSpPr/>
          <p:nvPr/>
        </p:nvGrpSpPr>
        <p:grpSpPr>
          <a:xfrm>
            <a:off x="5985405" y="157014"/>
            <a:ext cx="4206240" cy="1417320"/>
            <a:chOff x="777240" y="2240280"/>
            <a:chExt cx="4206240" cy="1417320"/>
          </a:xfrm>
        </p:grpSpPr>
        <p:sp>
          <p:nvSpPr>
            <p:cNvPr id="6" name="Shape 4"/>
            <p:cNvSpPr/>
            <p:nvPr/>
          </p:nvSpPr>
          <p:spPr>
            <a:xfrm>
              <a:off x="777240" y="2240280"/>
              <a:ext cx="420624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143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1051560" y="2423160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9CA3A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ANTES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51560" y="2697480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118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Javier · Vendedor laboral</a:t>
              </a:r>
              <a:endParaRPr lang="en-US" sz="2000" dirty="0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F68D5CE7-7F0A-8F2E-405B-EEE839938CB0}"/>
              </a:ext>
            </a:extLst>
          </p:cNvPr>
          <p:cNvGrpSpPr/>
          <p:nvPr/>
        </p:nvGrpSpPr>
        <p:grpSpPr>
          <a:xfrm>
            <a:off x="6600492" y="1188205"/>
            <a:ext cx="1005840" cy="384048"/>
            <a:chOff x="2377440" y="3703320"/>
            <a:chExt cx="1005840" cy="384048"/>
          </a:xfrm>
        </p:grpSpPr>
        <p:sp>
          <p:nvSpPr>
            <p:cNvPr id="10" name="Shape 8"/>
            <p:cNvSpPr/>
            <p:nvPr/>
          </p:nvSpPr>
          <p:spPr>
            <a:xfrm>
              <a:off x="2377440" y="3703320"/>
              <a:ext cx="1005840" cy="384048"/>
            </a:xfrm>
            <a:prstGeom prst="roundRect">
              <a:avLst>
                <a:gd name="adj" fmla="val 50000"/>
              </a:avLst>
            </a:prstGeom>
            <a:solidFill>
              <a:srgbClr val="2E9BE6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2377440" y="3703320"/>
              <a:ext cx="1005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  ASCENSO</a:t>
              </a:r>
              <a:endParaRPr lang="en-US" sz="900" dirty="0"/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1E0D60FB-01AF-1D36-0A22-46636A95D12D}"/>
              </a:ext>
            </a:extLst>
          </p:cNvPr>
          <p:cNvGrpSpPr/>
          <p:nvPr/>
        </p:nvGrpSpPr>
        <p:grpSpPr>
          <a:xfrm>
            <a:off x="8086346" y="1192060"/>
            <a:ext cx="4206240" cy="1417320"/>
            <a:chOff x="728304" y="4292227"/>
            <a:chExt cx="4206240" cy="1417320"/>
          </a:xfrm>
        </p:grpSpPr>
        <p:sp>
          <p:nvSpPr>
            <p:cNvPr id="12" name="Shape 10"/>
            <p:cNvSpPr/>
            <p:nvPr/>
          </p:nvSpPr>
          <p:spPr>
            <a:xfrm>
              <a:off x="728304" y="4292227"/>
              <a:ext cx="420624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31750">
              <a:solidFill>
                <a:srgbClr val="0055A4"/>
              </a:solidFill>
              <a:prstDash val="solid"/>
            </a:ln>
            <a:effectLst>
              <a:outerShdw blurRad="1143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1051560" y="4293346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0055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AHORA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051560" y="4434840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055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Javier · Responsable del equipo</a:t>
              </a:r>
              <a:endParaRPr lang="en-US" sz="20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F4A3E386-5569-54A3-31CF-33E8B0A3BD19}"/>
              </a:ext>
            </a:extLst>
          </p:cNvPr>
          <p:cNvGrpSpPr/>
          <p:nvPr/>
        </p:nvGrpSpPr>
        <p:grpSpPr>
          <a:xfrm>
            <a:off x="3234794" y="2386528"/>
            <a:ext cx="2423160" cy="2286000"/>
            <a:chOff x="5394960" y="2148840"/>
            <a:chExt cx="2423160" cy="2286000"/>
          </a:xfrm>
        </p:grpSpPr>
        <p:sp>
          <p:nvSpPr>
            <p:cNvPr id="16" name="Shape 14"/>
            <p:cNvSpPr/>
            <p:nvPr/>
          </p:nvSpPr>
          <p:spPr>
            <a:xfrm>
              <a:off x="5394960" y="2148840"/>
              <a:ext cx="2423160" cy="22860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143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5394960" y="2148840"/>
              <a:ext cx="2423160" cy="91440"/>
            </a:xfrm>
            <a:prstGeom prst="roundRect">
              <a:avLst>
                <a:gd name="adj" fmla="val 40000"/>
              </a:avLst>
            </a:prstGeom>
            <a:solidFill>
              <a:srgbClr val="7C3AED"/>
            </a:solidFill>
            <a:ln/>
          </p:spPr>
        </p:sp>
        <p:sp>
          <p:nvSpPr>
            <p:cNvPr id="18" name="Shape 16"/>
            <p:cNvSpPr/>
            <p:nvPr/>
          </p:nvSpPr>
          <p:spPr>
            <a:xfrm>
              <a:off x="5394960" y="2194560"/>
              <a:ext cx="2423160" cy="45720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5559552" y="2350008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María</a:t>
              </a:r>
              <a:endParaRPr lang="en-US" sz="20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5559552" y="2697480"/>
              <a:ext cx="21488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00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2.º CICLO · DESDE 2021</a:t>
              </a:r>
              <a:endParaRPr lang="en-US" sz="7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559552" y="2953512"/>
              <a:ext cx="209397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endPara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endParaRPr>
            </a:p>
            <a:p>
              <a:pPr algn="ctr"/>
              <a:r>
                <a:rPr lang="en-US" sz="1400" dirty="0">
                  <a:solidFill>
                    <a:srgbClr val="6B7280"/>
                  </a:solidFill>
                  <a:latin typeface="Calibri"/>
                  <a:ea typeface="Calibri"/>
                  <a:cs typeface="Calibri"/>
                </a:rPr>
                <a:t>177,46 % de </a:t>
              </a:r>
              <a:r>
                <a:rPr lang="en-US" sz="1400" dirty="0" err="1">
                  <a:solidFill>
                    <a:srgbClr val="6B7280"/>
                  </a:solidFill>
                  <a:latin typeface="Calibri"/>
                  <a:ea typeface="Calibri"/>
                  <a:cs typeface="Calibri"/>
                </a:rPr>
                <a:t>cobertura</a:t>
              </a:r>
              <a:endParaRPr lang="en-US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  <a:p>
              <a:pPr algn="ctr"/>
              <a:endPara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endParaRPr>
            </a:p>
            <a:p>
              <a:pPr algn="ctr"/>
              <a:endPara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endParaRPr>
            </a:p>
            <a:p>
              <a:pPr algn="just">
                <a:lnSpc>
                  <a:spcPct val="120000"/>
                </a:lnSpc>
              </a:pPr>
              <a:endPara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C1194113-73E0-5673-5E2A-0A14AFCDCF23}"/>
              </a:ext>
            </a:extLst>
          </p:cNvPr>
          <p:cNvGrpSpPr/>
          <p:nvPr/>
        </p:nvGrpSpPr>
        <p:grpSpPr>
          <a:xfrm>
            <a:off x="6468387" y="2386528"/>
            <a:ext cx="2423160" cy="2286000"/>
            <a:chOff x="7964424" y="2148840"/>
            <a:chExt cx="2423160" cy="2286000"/>
          </a:xfrm>
        </p:grpSpPr>
        <p:sp>
          <p:nvSpPr>
            <p:cNvPr id="22" name="Shape 20"/>
            <p:cNvSpPr/>
            <p:nvPr/>
          </p:nvSpPr>
          <p:spPr>
            <a:xfrm>
              <a:off x="7964424" y="2148840"/>
              <a:ext cx="2423160" cy="22860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143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7964424" y="2148840"/>
              <a:ext cx="2423160" cy="91440"/>
            </a:xfrm>
            <a:prstGeom prst="roundRect">
              <a:avLst>
                <a:gd name="adj" fmla="val 40000"/>
              </a:avLst>
            </a:prstGeom>
            <a:solidFill>
              <a:srgbClr val="DB2777"/>
            </a:solidFill>
            <a:ln/>
          </p:spPr>
        </p:sp>
        <p:sp>
          <p:nvSpPr>
            <p:cNvPr id="24" name="Shape 22"/>
            <p:cNvSpPr/>
            <p:nvPr/>
          </p:nvSpPr>
          <p:spPr>
            <a:xfrm>
              <a:off x="7964424" y="2194560"/>
              <a:ext cx="2423160" cy="45720"/>
            </a:xfrm>
            <a:prstGeom prst="rect">
              <a:avLst/>
            </a:prstGeom>
            <a:solidFill>
              <a:srgbClr val="DB2777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8129016" y="2350008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Rosa</a:t>
              </a:r>
              <a:endParaRPr lang="en-US" sz="20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8129016" y="2697480"/>
              <a:ext cx="21488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00" dirty="0">
                  <a:solidFill>
                    <a:srgbClr val="DB2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2.º CICLO · DESDE 2023</a:t>
              </a:r>
              <a:endParaRPr lang="en-US" sz="7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129016" y="2953512"/>
              <a:ext cx="209397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just">
                <a:lnSpc>
                  <a:spcPct val="120000"/>
                </a:lnSpc>
                <a:buNone/>
              </a:pPr>
              <a:endParaRPr lang="en-US" sz="1000" dirty="0">
                <a:solidFill>
                  <a:srgbClr val="6B7280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A7F5D70C-C308-8E36-F01A-F9C80786D7FD}"/>
              </a:ext>
            </a:extLst>
          </p:cNvPr>
          <p:cNvGrpSpPr/>
          <p:nvPr/>
        </p:nvGrpSpPr>
        <p:grpSpPr>
          <a:xfrm>
            <a:off x="9351768" y="2386025"/>
            <a:ext cx="2423160" cy="2286000"/>
            <a:chOff x="5394960" y="4581144"/>
            <a:chExt cx="2423160" cy="2286000"/>
          </a:xfrm>
        </p:grpSpPr>
        <p:sp>
          <p:nvSpPr>
            <p:cNvPr id="28" name="Shape 26"/>
            <p:cNvSpPr/>
            <p:nvPr/>
          </p:nvSpPr>
          <p:spPr>
            <a:xfrm>
              <a:off x="5394960" y="4581144"/>
              <a:ext cx="2423160" cy="22860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143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5394960" y="4581144"/>
              <a:ext cx="2423160" cy="91440"/>
            </a:xfrm>
            <a:prstGeom prst="roundRect">
              <a:avLst>
                <a:gd name="adj" fmla="val 40000"/>
              </a:avLst>
            </a:prstGeom>
            <a:solidFill>
              <a:srgbClr val="059669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5394960" y="4626864"/>
              <a:ext cx="2423160" cy="45720"/>
            </a:xfrm>
            <a:prstGeom prst="rect">
              <a:avLst/>
            </a:prstGeom>
            <a:solidFill>
              <a:srgbClr val="059669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5559552" y="4782312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Ibtisam</a:t>
              </a:r>
              <a:endParaRPr lang="en-US" sz="20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5559552" y="5129784"/>
              <a:ext cx="21488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00">
                  <a:solidFill>
                    <a:srgbClr val="059669"/>
                  </a:solidFill>
                  <a:latin typeface="Calibri"/>
                  <a:ea typeface="Calibri"/>
                  <a:cs typeface="Calibri"/>
                </a:rPr>
                <a:t>1.</a:t>
              </a:r>
              <a:r>
                <a:rPr lang="en-US" sz="750" b="1" kern="0" spc="100">
                  <a:solidFill>
                    <a:srgbClr val="2A966B"/>
                  </a:solidFill>
                  <a:latin typeface="Calibri"/>
                  <a:ea typeface="Calibri"/>
                  <a:cs typeface="Calibri"/>
                </a:rPr>
                <a:t>ER</a:t>
              </a:r>
              <a:r>
                <a:rPr lang="en-US" sz="750" b="1" kern="0" spc="100">
                  <a:solidFill>
                    <a:srgbClr val="059669"/>
                  </a:solidFill>
                  <a:latin typeface="Calibri"/>
                  <a:ea typeface="Calibri"/>
                  <a:cs typeface="Calibri"/>
                </a:rPr>
                <a:t> CICLO · </a:t>
              </a:r>
              <a:endParaRPr lang="en-US" sz="75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5559552" y="5385816"/>
              <a:ext cx="209397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just">
                <a:lnSpc>
                  <a:spcPct val="120000"/>
                </a:lnSpc>
                <a:buNone/>
              </a:pPr>
              <a:endParaRPr lang="en-US" sz="1000" dirty="0">
                <a:solidFill>
                  <a:srgbClr val="6B7280"/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05390CF4-EE2C-71F8-3846-A33B0C37C8CB}"/>
              </a:ext>
            </a:extLst>
          </p:cNvPr>
          <p:cNvGrpSpPr/>
          <p:nvPr/>
        </p:nvGrpSpPr>
        <p:grpSpPr>
          <a:xfrm>
            <a:off x="463268" y="2386025"/>
            <a:ext cx="2423160" cy="2286000"/>
            <a:chOff x="7964424" y="4581144"/>
            <a:chExt cx="2423160" cy="2286000"/>
          </a:xfrm>
        </p:grpSpPr>
        <p:sp>
          <p:nvSpPr>
            <p:cNvPr id="34" name="Shape 32"/>
            <p:cNvSpPr/>
            <p:nvPr/>
          </p:nvSpPr>
          <p:spPr>
            <a:xfrm>
              <a:off x="7964424" y="4581144"/>
              <a:ext cx="2423160" cy="22860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143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5" name="Shape 33"/>
            <p:cNvSpPr/>
            <p:nvPr/>
          </p:nvSpPr>
          <p:spPr>
            <a:xfrm>
              <a:off x="7964424" y="4581144"/>
              <a:ext cx="2423160" cy="91440"/>
            </a:xfrm>
            <a:prstGeom prst="roundRect">
              <a:avLst>
                <a:gd name="adj" fmla="val 40000"/>
              </a:avLst>
            </a:prstGeom>
            <a:solidFill>
              <a:srgbClr val="D97706"/>
            </a:solidFill>
            <a:ln/>
          </p:spPr>
        </p:sp>
        <p:sp>
          <p:nvSpPr>
            <p:cNvPr id="36" name="Shape 34"/>
            <p:cNvSpPr/>
            <p:nvPr/>
          </p:nvSpPr>
          <p:spPr>
            <a:xfrm>
              <a:off x="7964424" y="4626864"/>
              <a:ext cx="2423160" cy="45720"/>
            </a:xfrm>
            <a:prstGeom prst="rect">
              <a:avLst/>
            </a:prstGeom>
            <a:solidFill>
              <a:srgbClr val="D97706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8129016" y="4782312"/>
              <a:ext cx="2148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11827"/>
                  </a:solidFill>
                  <a:latin typeface="Calibri"/>
                  <a:ea typeface="Calibri"/>
                  <a:cs typeface="Calibri"/>
                </a:rPr>
                <a:t>Diego</a:t>
              </a:r>
              <a:endParaRPr lang="en-US" sz="20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8129016" y="5129784"/>
              <a:ext cx="21488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00" dirty="0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VENDEDOR LABORAL · 2017</a:t>
              </a:r>
              <a:endParaRPr lang="en-US" sz="7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8129016" y="5385816"/>
              <a:ext cx="209397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 algn="just">
                <a:lnSpc>
                  <a:spcPct val="120000"/>
                </a:lnSpc>
                <a:buFont typeface="Wingdings"/>
                <a:buChar char="q"/>
              </a:pPr>
              <a:endParaRPr lang="en-US" sz="1000" dirty="0">
                <a:solidFill>
                  <a:srgbClr val="6B7280"/>
                </a:solidFill>
                <a:ea typeface="Calibri" panose="020F0502020204030204"/>
                <a:cs typeface="Calibri" panose="020F0502020204030204"/>
              </a:endParaRPr>
            </a:p>
            <a:p>
              <a:pPr algn="ctr">
                <a:lnSpc>
                  <a:spcPct val="120000"/>
                </a:lnSpc>
              </a:pPr>
              <a:r>
                <a:rPr lang="en-US" sz="1400" dirty="0">
                  <a:solidFill>
                    <a:srgbClr val="6B7280"/>
                  </a:solidFill>
                  <a:ea typeface="Calibri" panose="020F0502020204030204"/>
                  <a:cs typeface="Calibri" panose="020F0502020204030204"/>
                </a:rPr>
                <a:t>28,97 % de </a:t>
              </a:r>
              <a:r>
                <a:rPr lang="en-US" sz="1400" dirty="0" err="1">
                  <a:solidFill>
                    <a:srgbClr val="6B7280"/>
                  </a:solidFill>
                  <a:ea typeface="Calibri" panose="020F0502020204030204"/>
                  <a:cs typeface="Calibri" panose="020F0502020204030204"/>
                </a:rPr>
                <a:t>cobertura</a:t>
              </a:r>
              <a:endParaRPr lang="en-US" sz="1400" dirty="0">
                <a:solidFill>
                  <a:srgbClr val="6B7280"/>
                </a:solidFill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2DEAA89-4194-1006-0A9F-3DFC699C6CED}"/>
              </a:ext>
            </a:extLst>
          </p:cNvPr>
          <p:cNvSpPr txBox="1"/>
          <p:nvPr/>
        </p:nvSpPr>
        <p:spPr>
          <a:xfrm>
            <a:off x="6473505" y="3338119"/>
            <a:ext cx="241882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rgbClr val="6B7280"/>
                </a:solidFill>
                <a:latin typeface="Calibri"/>
              </a:rPr>
              <a:t>122,05</a:t>
            </a:r>
            <a:r>
              <a:rPr lang="en-US" sz="1400" b="0" i="0" u="none" strike="noStrike" baseline="0" dirty="0">
                <a:solidFill>
                  <a:srgbClr val="6B7280"/>
                </a:solidFill>
                <a:latin typeface="Calibri"/>
              </a:rPr>
              <a:t> % de </a:t>
            </a:r>
            <a:r>
              <a:rPr lang="en-US" sz="1400" b="0" i="0" u="none" strike="noStrike" baseline="0" dirty="0" err="1">
                <a:solidFill>
                  <a:srgbClr val="6B7280"/>
                </a:solidFill>
                <a:latin typeface="Calibri"/>
              </a:rPr>
              <a:t>cobertura</a:t>
            </a:r>
            <a:r>
              <a:rPr sz="14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s-ES" dirty="0">
              <a:ea typeface="Calibri" panose="020F0502020204030204"/>
              <a:cs typeface="Calibri" panose="020F0502020204030204"/>
            </a:endParaRPr>
          </a:p>
          <a:p>
            <a:pPr algn="ctr"/>
            <a:endParaRPr lang="es-ES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1D2FA3B-B753-BAED-4CF6-07D67818B1C6}"/>
              </a:ext>
            </a:extLst>
          </p:cNvPr>
          <p:cNvGrpSpPr/>
          <p:nvPr/>
        </p:nvGrpSpPr>
        <p:grpSpPr>
          <a:xfrm>
            <a:off x="3667089" y="4050044"/>
            <a:ext cx="1554480" cy="310896"/>
            <a:chOff x="4206240" y="1929384"/>
            <a:chExt cx="1554480" cy="310896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8086B7BC-BD16-B936-1A84-F24A4363A9CF}"/>
                </a:ext>
              </a:extLst>
            </p:cNvPr>
            <p:cNvSpPr/>
            <p:nvPr/>
          </p:nvSpPr>
          <p:spPr>
            <a:xfrm>
              <a:off x="4206240" y="1929384"/>
              <a:ext cx="1554480" cy="310896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821CF940-022B-7E4A-2F86-F7B74C8D6095}"/>
                </a:ext>
              </a:extLst>
            </p:cNvPr>
            <p:cNvSpPr/>
            <p:nvPr/>
          </p:nvSpPr>
          <p:spPr>
            <a:xfrm>
              <a:off x="4206240" y="1929384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50" b="1" kern="0" spc="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MOTOR</a:t>
              </a:r>
              <a:endParaRPr lang="en-US" sz="85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F34B6BE8-4E6E-2D8F-E64B-5A8413D34739}"/>
              </a:ext>
            </a:extLst>
          </p:cNvPr>
          <p:cNvGrpSpPr/>
          <p:nvPr/>
        </p:nvGrpSpPr>
        <p:grpSpPr>
          <a:xfrm>
            <a:off x="6903432" y="4085988"/>
            <a:ext cx="1554480" cy="310896"/>
            <a:chOff x="9692640" y="1929384"/>
            <a:chExt cx="1554480" cy="310896"/>
          </a:xfrm>
        </p:grpSpPr>
        <p:sp>
          <p:nvSpPr>
            <p:cNvPr id="59" name="Shape 10">
              <a:extLst>
                <a:ext uri="{FF2B5EF4-FFF2-40B4-BE49-F238E27FC236}">
                  <a16:creationId xmlns:a16="http://schemas.microsoft.com/office/drawing/2014/main" id="{48DB9E1F-822D-11B4-3CBF-CC22F3BE2959}"/>
                </a:ext>
              </a:extLst>
            </p:cNvPr>
            <p:cNvSpPr/>
            <p:nvPr/>
          </p:nvSpPr>
          <p:spPr>
            <a:xfrm>
              <a:off x="9692640" y="1929384"/>
              <a:ext cx="1554480" cy="310896"/>
            </a:xfrm>
            <a:prstGeom prst="roundRect">
              <a:avLst>
                <a:gd name="adj" fmla="val 50000"/>
              </a:avLst>
            </a:prstGeom>
            <a:solidFill>
              <a:srgbClr val="DB2777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60" name="Text 11">
              <a:extLst>
                <a:ext uri="{FF2B5EF4-FFF2-40B4-BE49-F238E27FC236}">
                  <a16:creationId xmlns:a16="http://schemas.microsoft.com/office/drawing/2014/main" id="{DE552F15-9CCF-0F3F-9EDF-09CF29958A6E}"/>
                </a:ext>
              </a:extLst>
            </p:cNvPr>
            <p:cNvSpPr/>
            <p:nvPr/>
          </p:nvSpPr>
          <p:spPr>
            <a:xfrm>
              <a:off x="9692640" y="1929384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50" b="1" kern="0" spc="1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POTENCIAL</a:t>
              </a:r>
              <a:endParaRPr lang="es-ES"/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D3BE3529-CCF2-F283-5D2E-41695DBEF068}"/>
              </a:ext>
            </a:extLst>
          </p:cNvPr>
          <p:cNvGrpSpPr/>
          <p:nvPr/>
        </p:nvGrpSpPr>
        <p:grpSpPr>
          <a:xfrm>
            <a:off x="9784655" y="4084838"/>
            <a:ext cx="1554480" cy="310896"/>
            <a:chOff x="4206240" y="3941064"/>
            <a:chExt cx="1554480" cy="310896"/>
          </a:xfrm>
        </p:grpSpPr>
        <p:sp>
          <p:nvSpPr>
            <p:cNvPr id="57" name="Shape 15">
              <a:extLst>
                <a:ext uri="{FF2B5EF4-FFF2-40B4-BE49-F238E27FC236}">
                  <a16:creationId xmlns:a16="http://schemas.microsoft.com/office/drawing/2014/main" id="{2CE00839-EA4D-D3A9-B689-27E23D90FAB9}"/>
                </a:ext>
              </a:extLst>
            </p:cNvPr>
            <p:cNvSpPr/>
            <p:nvPr/>
          </p:nvSpPr>
          <p:spPr>
            <a:xfrm>
              <a:off x="4206240" y="3941064"/>
              <a:ext cx="1554480" cy="310896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58" name="Text 16">
              <a:extLst>
                <a:ext uri="{FF2B5EF4-FFF2-40B4-BE49-F238E27FC236}">
                  <a16:creationId xmlns:a16="http://schemas.microsoft.com/office/drawing/2014/main" id="{2F6E8C9D-D19B-2782-075C-3E0FC4663BD4}"/>
                </a:ext>
              </a:extLst>
            </p:cNvPr>
            <p:cNvSpPr/>
            <p:nvPr/>
          </p:nvSpPr>
          <p:spPr>
            <a:xfrm>
              <a:off x="4206240" y="3941064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50" b="1" kern="0" spc="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 FORMACIÓN</a:t>
              </a:r>
              <a:endParaRPr lang="en-US" sz="850" dirty="0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728CC568-2DC0-365C-76D9-A89F43900AE3}"/>
              </a:ext>
            </a:extLst>
          </p:cNvPr>
          <p:cNvGrpSpPr/>
          <p:nvPr/>
        </p:nvGrpSpPr>
        <p:grpSpPr>
          <a:xfrm>
            <a:off x="900885" y="4056083"/>
            <a:ext cx="1554480" cy="310896"/>
            <a:chOff x="9692640" y="3941064"/>
            <a:chExt cx="1554480" cy="310896"/>
          </a:xfrm>
        </p:grpSpPr>
        <p:sp>
          <p:nvSpPr>
            <p:cNvPr id="55" name="Shape 20">
              <a:extLst>
                <a:ext uri="{FF2B5EF4-FFF2-40B4-BE49-F238E27FC236}">
                  <a16:creationId xmlns:a16="http://schemas.microsoft.com/office/drawing/2014/main" id="{6AC6254F-3E7E-7AB0-58EE-6EEDD7B81081}"/>
                </a:ext>
              </a:extLst>
            </p:cNvPr>
            <p:cNvSpPr/>
            <p:nvPr/>
          </p:nvSpPr>
          <p:spPr>
            <a:xfrm>
              <a:off x="9692640" y="3941064"/>
              <a:ext cx="1554480" cy="310896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56" name="Text 21">
              <a:extLst>
                <a:ext uri="{FF2B5EF4-FFF2-40B4-BE49-F238E27FC236}">
                  <a16:creationId xmlns:a16="http://schemas.microsoft.com/office/drawing/2014/main" id="{4CB00E07-A49B-007D-0BF7-3633716D1FD9}"/>
                </a:ext>
              </a:extLst>
            </p:cNvPr>
            <p:cNvSpPr/>
            <p:nvPr/>
          </p:nvSpPr>
          <p:spPr>
            <a:xfrm>
              <a:off x="9692640" y="3941064"/>
              <a:ext cx="1554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50" b="1" kern="0" spc="100">
                  <a:solidFill>
                    <a:srgbClr val="FFFFFF"/>
                  </a:solidFill>
                  <a:ea typeface="Calibri"/>
                  <a:cs typeface="Calibri"/>
                </a:rPr>
                <a:t>VETERANÍA</a:t>
              </a:r>
              <a:endParaRPr lang="en-US" sz="850" b="1" kern="0" spc="1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57784"/>
            <a:ext cx="292608" cy="41148"/>
          </a:xfrm>
          <a:prstGeom prst="rect">
            <a:avLst/>
          </a:prstGeom>
          <a:solidFill>
            <a:srgbClr val="2E9BE6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E9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60 DÍAS · EMBUDO COMPLETO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25137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del equipo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3698" y="1554480"/>
            <a:ext cx="45690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Presupuestos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realizados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tasas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conversión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y puntos </a:t>
            </a: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conseguidos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febrero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0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trimestre</a:t>
            </a:r>
            <a:r>
              <a:rPr lang="en-US" sz="10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). 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11237976" cy="339242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ÚLTIMOS 60 DÍAS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CONVERSIÓN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PUNTOS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2C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D4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Entrev.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Vtos.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Grab.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Llam→Ent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59E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Ent→Grab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Febrero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22C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16,79 %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28,97 %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170,60 %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177,46 %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108,76 %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122,05 %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Ibtisam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formación · 1.er ciclo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i="1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por persona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526" y="598496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 err="1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Recuerda</a:t>
            </a:r>
            <a:r>
              <a:rPr lang="en-US" sz="1000" i="1" dirty="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i="1" dirty="0" err="1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añadir</a:t>
            </a:r>
            <a:r>
              <a:rPr lang="en-US" sz="1000" i="1" dirty="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 el bocadillo: PRIORIDAD MANEJO DE TABLET Y REGISTRO</a:t>
            </a:r>
          </a:p>
          <a:p>
            <a:endParaRPr lang="en-US" sz="1000" i="1" dirty="0">
              <a:solidFill>
                <a:srgbClr val="9CA3AF"/>
              </a:solidFill>
              <a:ea typeface="Calibri"/>
              <a:cs typeface="Calibri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C10B3411-C36D-1417-6970-33C59BD02796}"/>
              </a:ext>
            </a:extLst>
          </p:cNvPr>
          <p:cNvGrpSpPr/>
          <p:nvPr/>
        </p:nvGrpSpPr>
        <p:grpSpPr>
          <a:xfrm>
            <a:off x="5539378" y="428754"/>
            <a:ext cx="6196148" cy="1455782"/>
            <a:chOff x="502920" y="4187952"/>
            <a:chExt cx="5303520" cy="914400"/>
          </a:xfrm>
        </p:grpSpPr>
        <p:sp>
          <p:nvSpPr>
            <p:cNvPr id="9" name="Text 19">
              <a:extLst>
                <a:ext uri="{FF2B5EF4-FFF2-40B4-BE49-F238E27FC236}">
                  <a16:creationId xmlns:a16="http://schemas.microsoft.com/office/drawing/2014/main" id="{57B0A3CF-037F-AAAF-4BE7-C85A79271851}"/>
                </a:ext>
              </a:extLst>
            </p:cNvPr>
            <p:cNvSpPr/>
            <p:nvPr/>
          </p:nvSpPr>
          <p:spPr>
            <a:xfrm>
              <a:off x="502920" y="4187952"/>
              <a:ext cx="5303520" cy="20116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b="1" kern="0" spc="150" dirty="0">
                  <a:solidFill>
                    <a:srgbClr val="0055A4"/>
                  </a:solidFill>
                  <a:latin typeface="Calibri"/>
                  <a:ea typeface="Calibri"/>
                  <a:cs typeface="Calibri"/>
                </a:rPr>
                <a:t>ESTÁNDAR SEMANAL POR VENDEDOR</a:t>
              </a:r>
              <a:endParaRPr lang="en-US" sz="12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0" name="Shape 20">
              <a:extLst>
                <a:ext uri="{FF2B5EF4-FFF2-40B4-BE49-F238E27FC236}">
                  <a16:creationId xmlns:a16="http://schemas.microsoft.com/office/drawing/2014/main" id="{D2519F7D-F840-55C0-65D6-DCDB3AEA5409}"/>
                </a:ext>
              </a:extLst>
            </p:cNvPr>
            <p:cNvSpPr/>
            <p:nvPr/>
          </p:nvSpPr>
          <p:spPr>
            <a:xfrm>
              <a:off x="502920" y="4467590"/>
              <a:ext cx="5303520" cy="621007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50800" dist="12700" dir="27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Shape 21">
              <a:extLst>
                <a:ext uri="{FF2B5EF4-FFF2-40B4-BE49-F238E27FC236}">
                  <a16:creationId xmlns:a16="http://schemas.microsoft.com/office/drawing/2014/main" id="{ACF35FB5-B761-8C0C-B322-87F8E5F7BCE3}"/>
                </a:ext>
              </a:extLst>
            </p:cNvPr>
            <p:cNvSpPr/>
            <p:nvPr/>
          </p:nvSpPr>
          <p:spPr>
            <a:xfrm>
              <a:off x="502920" y="4434840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/>
            <a:p>
              <a:endParaRPr lang="es-ES" sz="1200"/>
            </a:p>
          </p:txBody>
        </p:sp>
        <p:sp>
          <p:nvSpPr>
            <p:cNvPr id="12" name="Text 22">
              <a:extLst>
                <a:ext uri="{FF2B5EF4-FFF2-40B4-BE49-F238E27FC236}">
                  <a16:creationId xmlns:a16="http://schemas.microsoft.com/office/drawing/2014/main" id="{427C80D1-3E32-124C-B9A4-728CB1CAADA1}"/>
                </a:ext>
              </a:extLst>
            </p:cNvPr>
            <p:cNvSpPr/>
            <p:nvPr/>
          </p:nvSpPr>
          <p:spPr>
            <a:xfrm>
              <a:off x="502920" y="4434840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Llamadas</a:t>
              </a:r>
              <a:endParaRPr lang="en-US" sz="1200" b="1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13" name="Shape 23">
              <a:extLst>
                <a:ext uri="{FF2B5EF4-FFF2-40B4-BE49-F238E27FC236}">
                  <a16:creationId xmlns:a16="http://schemas.microsoft.com/office/drawing/2014/main" id="{D90DAC65-EA8D-98D9-49EA-73973D9B841D}"/>
                </a:ext>
              </a:extLst>
            </p:cNvPr>
            <p:cNvSpPr/>
            <p:nvPr/>
          </p:nvSpPr>
          <p:spPr>
            <a:xfrm>
              <a:off x="1386840" y="4434840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 24">
              <a:extLst>
                <a:ext uri="{FF2B5EF4-FFF2-40B4-BE49-F238E27FC236}">
                  <a16:creationId xmlns:a16="http://schemas.microsoft.com/office/drawing/2014/main" id="{EF738740-D6D1-5BAB-A1B5-CECCD1F4D413}"/>
                </a:ext>
              </a:extLst>
            </p:cNvPr>
            <p:cNvSpPr/>
            <p:nvPr/>
          </p:nvSpPr>
          <p:spPr>
            <a:xfrm>
              <a:off x="1386840" y="4434840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Entrevistas</a:t>
              </a:r>
            </a:p>
          </p:txBody>
        </p:sp>
        <p:sp>
          <p:nvSpPr>
            <p:cNvPr id="15" name="Shape 25">
              <a:extLst>
                <a:ext uri="{FF2B5EF4-FFF2-40B4-BE49-F238E27FC236}">
                  <a16:creationId xmlns:a16="http://schemas.microsoft.com/office/drawing/2014/main" id="{B1F1D2C6-C987-245F-CBFB-07FB21FD05E8}"/>
                </a:ext>
              </a:extLst>
            </p:cNvPr>
            <p:cNvSpPr/>
            <p:nvPr/>
          </p:nvSpPr>
          <p:spPr>
            <a:xfrm>
              <a:off x="2270760" y="4434840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 26">
              <a:extLst>
                <a:ext uri="{FF2B5EF4-FFF2-40B4-BE49-F238E27FC236}">
                  <a16:creationId xmlns:a16="http://schemas.microsoft.com/office/drawing/2014/main" id="{ADD8DA53-74C2-DFCC-1B20-1A9EA8360832}"/>
                </a:ext>
              </a:extLst>
            </p:cNvPr>
            <p:cNvSpPr/>
            <p:nvPr/>
          </p:nvSpPr>
          <p:spPr>
            <a:xfrm>
              <a:off x="2270760" y="4434840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Presupuestos</a:t>
              </a:r>
              <a:endParaRPr lang="es-ES" sz="1200" dirty="0" err="1"/>
            </a:p>
          </p:txBody>
        </p:sp>
        <p:sp>
          <p:nvSpPr>
            <p:cNvPr id="17" name="Shape 27">
              <a:extLst>
                <a:ext uri="{FF2B5EF4-FFF2-40B4-BE49-F238E27FC236}">
                  <a16:creationId xmlns:a16="http://schemas.microsoft.com/office/drawing/2014/main" id="{EE4414A2-F90A-4BA2-2E74-A29487995F40}"/>
                </a:ext>
              </a:extLst>
            </p:cNvPr>
            <p:cNvSpPr/>
            <p:nvPr/>
          </p:nvSpPr>
          <p:spPr>
            <a:xfrm>
              <a:off x="3154680" y="4434840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Text 28">
              <a:extLst>
                <a:ext uri="{FF2B5EF4-FFF2-40B4-BE49-F238E27FC236}">
                  <a16:creationId xmlns:a16="http://schemas.microsoft.com/office/drawing/2014/main" id="{8C3064F5-6720-D595-3432-2E04F397FE99}"/>
                </a:ext>
              </a:extLst>
            </p:cNvPr>
            <p:cNvSpPr/>
            <p:nvPr/>
          </p:nvSpPr>
          <p:spPr>
            <a:xfrm>
              <a:off x="3154680" y="4434840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Vencimientos</a:t>
              </a:r>
              <a:endParaRPr lang="es-ES" sz="1200" dirty="0" err="1"/>
            </a:p>
          </p:txBody>
        </p:sp>
        <p:sp>
          <p:nvSpPr>
            <p:cNvPr id="19" name="Shape 29">
              <a:extLst>
                <a:ext uri="{FF2B5EF4-FFF2-40B4-BE49-F238E27FC236}">
                  <a16:creationId xmlns:a16="http://schemas.microsoft.com/office/drawing/2014/main" id="{2721B44A-5C3A-2606-8124-9D01DECEC98E}"/>
                </a:ext>
              </a:extLst>
            </p:cNvPr>
            <p:cNvSpPr/>
            <p:nvPr/>
          </p:nvSpPr>
          <p:spPr>
            <a:xfrm>
              <a:off x="4038600" y="4434840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/>
            <a:p>
              <a:endParaRPr lang="es-ES" sz="900"/>
            </a:p>
          </p:txBody>
        </p:sp>
        <p:sp>
          <p:nvSpPr>
            <p:cNvPr id="20" name="Text 30">
              <a:extLst>
                <a:ext uri="{FF2B5EF4-FFF2-40B4-BE49-F238E27FC236}">
                  <a16:creationId xmlns:a16="http://schemas.microsoft.com/office/drawing/2014/main" id="{E41896EA-91BE-F551-ADBF-6A6E31051935}"/>
                </a:ext>
              </a:extLst>
            </p:cNvPr>
            <p:cNvSpPr/>
            <p:nvPr/>
          </p:nvSpPr>
          <p:spPr>
            <a:xfrm>
              <a:off x="4038600" y="4434840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Referencias</a:t>
              </a:r>
              <a:endParaRPr lang="en-US" sz="1200" dirty="0" err="1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" name="Shape 31">
              <a:extLst>
                <a:ext uri="{FF2B5EF4-FFF2-40B4-BE49-F238E27FC236}">
                  <a16:creationId xmlns:a16="http://schemas.microsoft.com/office/drawing/2014/main" id="{60B56E12-E432-5FD2-81E7-5B11B497F24A}"/>
                </a:ext>
              </a:extLst>
            </p:cNvPr>
            <p:cNvSpPr/>
            <p:nvPr/>
          </p:nvSpPr>
          <p:spPr>
            <a:xfrm>
              <a:off x="4922520" y="4434840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 32">
              <a:extLst>
                <a:ext uri="{FF2B5EF4-FFF2-40B4-BE49-F238E27FC236}">
                  <a16:creationId xmlns:a16="http://schemas.microsoft.com/office/drawing/2014/main" id="{42CEE03F-0978-0541-94A6-7AD704F9BD3F}"/>
                </a:ext>
              </a:extLst>
            </p:cNvPr>
            <p:cNvSpPr/>
            <p:nvPr/>
          </p:nvSpPr>
          <p:spPr>
            <a:xfrm>
              <a:off x="4922520" y="4434840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Ganadas</a:t>
              </a:r>
              <a:r>
                <a:rPr lang="en-US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/</a:t>
              </a:r>
              <a:endParaRPr lang="es-ES" sz="1200" dirty="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Grabadas</a:t>
              </a:r>
              <a:endParaRPr lang="es-ES" sz="1200" dirty="0" err="1">
                <a:ea typeface="Calibri"/>
                <a:cs typeface="Calibri"/>
              </a:endParaRPr>
            </a:p>
          </p:txBody>
        </p:sp>
        <p:sp>
          <p:nvSpPr>
            <p:cNvPr id="23" name="Text 33">
              <a:extLst>
                <a:ext uri="{FF2B5EF4-FFF2-40B4-BE49-F238E27FC236}">
                  <a16:creationId xmlns:a16="http://schemas.microsoft.com/office/drawing/2014/main" id="{FEB8B8C2-A5F2-F799-784C-EB7B709AB63E}"/>
                </a:ext>
              </a:extLst>
            </p:cNvPr>
            <p:cNvSpPr/>
            <p:nvPr/>
          </p:nvSpPr>
          <p:spPr>
            <a:xfrm>
              <a:off x="502920" y="4718304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</a:t>
              </a:r>
              <a:endParaRPr lang="en-US" sz="1500" dirty="0"/>
            </a:p>
          </p:txBody>
        </p:sp>
        <p:sp>
          <p:nvSpPr>
            <p:cNvPr id="24" name="Text 34">
              <a:extLst>
                <a:ext uri="{FF2B5EF4-FFF2-40B4-BE49-F238E27FC236}">
                  <a16:creationId xmlns:a16="http://schemas.microsoft.com/office/drawing/2014/main" id="{06452C32-8935-812A-015B-DFC18A29A0B1}"/>
                </a:ext>
              </a:extLst>
            </p:cNvPr>
            <p:cNvSpPr/>
            <p:nvPr/>
          </p:nvSpPr>
          <p:spPr>
            <a:xfrm>
              <a:off x="1386840" y="4718304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1500" dirty="0"/>
            </a:p>
          </p:txBody>
        </p:sp>
        <p:sp>
          <p:nvSpPr>
            <p:cNvPr id="25" name="Text 35">
              <a:extLst>
                <a:ext uri="{FF2B5EF4-FFF2-40B4-BE49-F238E27FC236}">
                  <a16:creationId xmlns:a16="http://schemas.microsoft.com/office/drawing/2014/main" id="{B4AE7CEA-433B-0D78-1FCE-6BA87C798065}"/>
                </a:ext>
              </a:extLst>
            </p:cNvPr>
            <p:cNvSpPr/>
            <p:nvPr/>
          </p:nvSpPr>
          <p:spPr>
            <a:xfrm>
              <a:off x="2270760" y="4718304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1500" dirty="0"/>
            </a:p>
          </p:txBody>
        </p:sp>
        <p:sp>
          <p:nvSpPr>
            <p:cNvPr id="26" name="Text 36">
              <a:extLst>
                <a:ext uri="{FF2B5EF4-FFF2-40B4-BE49-F238E27FC236}">
                  <a16:creationId xmlns:a16="http://schemas.microsoft.com/office/drawing/2014/main" id="{71AB8208-6A3B-5C46-4CC4-F57E513C7197}"/>
                </a:ext>
              </a:extLst>
            </p:cNvPr>
            <p:cNvSpPr/>
            <p:nvPr/>
          </p:nvSpPr>
          <p:spPr>
            <a:xfrm>
              <a:off x="3154680" y="4718304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1500" dirty="0"/>
            </a:p>
          </p:txBody>
        </p:sp>
        <p:sp>
          <p:nvSpPr>
            <p:cNvPr id="27" name="Text 37">
              <a:extLst>
                <a:ext uri="{FF2B5EF4-FFF2-40B4-BE49-F238E27FC236}">
                  <a16:creationId xmlns:a16="http://schemas.microsoft.com/office/drawing/2014/main" id="{CE5DA11D-5291-38AD-C86B-29E5373479F0}"/>
                </a:ext>
              </a:extLst>
            </p:cNvPr>
            <p:cNvSpPr/>
            <p:nvPr/>
          </p:nvSpPr>
          <p:spPr>
            <a:xfrm>
              <a:off x="4038600" y="4718304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500" dirty="0"/>
            </a:p>
          </p:txBody>
        </p:sp>
        <p:sp>
          <p:nvSpPr>
            <p:cNvPr id="28" name="Text 38">
              <a:extLst>
                <a:ext uri="{FF2B5EF4-FFF2-40B4-BE49-F238E27FC236}">
                  <a16:creationId xmlns:a16="http://schemas.microsoft.com/office/drawing/2014/main" id="{F087D256-06E0-27F5-81AC-C36524A181AC}"/>
                </a:ext>
              </a:extLst>
            </p:cNvPr>
            <p:cNvSpPr/>
            <p:nvPr/>
          </p:nvSpPr>
          <p:spPr>
            <a:xfrm>
              <a:off x="4922520" y="4718304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274320"/>
            <a:ext cx="36576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0" b="1" dirty="0">
                <a:solidFill>
                  <a:srgbClr val="EE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3063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acción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Qué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voy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hacer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. Una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palanca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distinta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cada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persona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durante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próximos</a:t>
            </a:r>
            <a:r>
              <a:rPr lang="en-US" sz="1400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meses.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57784"/>
            <a:ext cx="292608" cy="41148"/>
          </a:xfrm>
          <a:prstGeom prst="rect">
            <a:avLst/>
          </a:prstGeom>
          <a:solidFill>
            <a:srgbClr val="2E9BE6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E9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PALANCA DISTINTA PARA CADA UNO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El plan, persona a persona</a:t>
            </a:r>
            <a:endParaRPr lang="en-US" sz="32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91640"/>
            <a:ext cx="5257800" cy="9144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37360"/>
            <a:ext cx="52578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928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22199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VENDEDOR LABORAL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560" y="2603718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Font typeface=""/>
              <a:buChar char="•"/>
            </a:pPr>
            <a:r>
              <a:rPr lang="es-ES" sz="1200"/>
              <a:t>Plan de acción 3 meses</a:t>
            </a:r>
          </a:p>
          <a:p>
            <a:pPr>
              <a:buFont typeface=""/>
              <a:buChar char="•"/>
            </a:pPr>
            <a:r>
              <a:rPr lang="es-ES" sz="1200"/>
              <a:t>Revisión diaria de paneles, prácticas telefónicas y teatro de ventas</a:t>
            </a:r>
          </a:p>
          <a:p>
            <a:pPr>
              <a:buFont typeface=""/>
              <a:buChar char="•"/>
            </a:pPr>
            <a:r>
              <a:rPr lang="es-ES" sz="1200"/>
              <a:t>Que imparta él una formación grupal</a:t>
            </a:r>
            <a:endParaRPr lang="en-US" sz="1200" dirty="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691640"/>
            <a:ext cx="5257800" cy="9144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737360"/>
            <a:ext cx="52578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8928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222199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 CICLO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77240" y="4069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5257800" cy="91440"/>
          </a:xfrm>
          <a:prstGeom prst="roundRect">
            <a:avLst>
              <a:gd name="adj" fmla="val 40000"/>
            </a:avLst>
          </a:prstGeom>
          <a:solidFill>
            <a:srgbClr val="DB2777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114800"/>
            <a:ext cx="5257800" cy="4572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2702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51560" y="459943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 CICLO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4069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143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4069080"/>
            <a:ext cx="5257800" cy="9144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/>
        </p:spPr>
      </p:sp>
      <p:sp>
        <p:nvSpPr>
          <p:cNvPr id="28" name="Shape 26"/>
          <p:cNvSpPr/>
          <p:nvPr/>
        </p:nvSpPr>
        <p:spPr>
          <a:xfrm>
            <a:off x="6263640" y="4114800"/>
            <a:ext cx="52578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42702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Ibtisam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537960" y="459943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1.ER CICLO</a:t>
            </a:r>
            <a:endParaRPr lang="en-US" sz="8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2592757-3A98-2714-B5A1-AB6709AB97AE}"/>
              </a:ext>
            </a:extLst>
          </p:cNvPr>
          <p:cNvSpPr txBox="1"/>
          <p:nvPr/>
        </p:nvSpPr>
        <p:spPr>
          <a:xfrm>
            <a:off x="6262915" y="2543628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Candidata a gestora comercial</a:t>
            </a:r>
          </a:p>
          <a:p>
            <a:pPr>
              <a:buFont typeface=""/>
              <a:buChar char="•"/>
            </a:pPr>
            <a:r>
              <a:rPr lang="en-US"/>
              <a:t>Teatro de venta 2 días/semana para ganar autonomía en cierres</a:t>
            </a:r>
          </a:p>
          <a:p>
            <a:pPr algn="ctr"/>
            <a:endParaRPr lang="es-ES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0D5590F-CFD5-8515-D259-78C10D1B9BDB}"/>
              </a:ext>
            </a:extLst>
          </p:cNvPr>
          <p:cNvSpPr txBox="1"/>
          <p:nvPr/>
        </p:nvSpPr>
        <p:spPr>
          <a:xfrm>
            <a:off x="776514" y="4836886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No ve utilidad a la Tablet</a:t>
            </a:r>
          </a:p>
          <a:p>
            <a:pPr>
              <a:buFont typeface=""/>
              <a:buChar char="•"/>
            </a:pPr>
            <a:r>
              <a:rPr lang="en-US"/>
              <a:t>Mostrar casos reales de oportunidades perdidas</a:t>
            </a:r>
          </a:p>
          <a:p>
            <a:pPr>
              <a:buFont typeface=""/>
              <a:buChar char="•"/>
            </a:pPr>
            <a:r>
              <a:rPr lang="en-US"/>
              <a:t>3 despachos semanales de seguimiento de actividad</a:t>
            </a:r>
          </a:p>
          <a:p>
            <a:pPr algn="ctr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25AAC95-80AA-E60E-23F6-D9386BDEBA2F}"/>
              </a:ext>
            </a:extLst>
          </p:cNvPr>
          <p:cNvSpPr txBox="1"/>
          <p:nvPr/>
        </p:nvSpPr>
        <p:spPr>
          <a:xfrm>
            <a:off x="6371771" y="4829629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Muchas llamadas pero pocas entrevistas</a:t>
            </a:r>
          </a:p>
          <a:p>
            <a:pPr>
              <a:buFont typeface=""/>
              <a:buChar char="•"/>
            </a:pPr>
            <a:r>
              <a:rPr lang="en-US"/>
              <a:t>Prácticas telefónicas para mejorar concertación</a:t>
            </a:r>
          </a:p>
          <a:p>
            <a:pPr>
              <a:buFont typeface=""/>
              <a:buChar char="•"/>
            </a:pPr>
            <a:r>
              <a:rPr lang="en-US"/>
              <a:t>Rosa como referente y ejemplo</a:t>
            </a:r>
          </a:p>
          <a:p>
            <a:pPr algn="ctr"/>
            <a:endParaRPr lang="es-ES"/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062C6ED1-8308-2F63-1888-58AEACF6704B}"/>
              </a:ext>
            </a:extLst>
          </p:cNvPr>
          <p:cNvGrpSpPr/>
          <p:nvPr/>
        </p:nvGrpSpPr>
        <p:grpSpPr>
          <a:xfrm>
            <a:off x="6098177" y="160238"/>
            <a:ext cx="5426891" cy="1419496"/>
            <a:chOff x="5684520" y="573896"/>
            <a:chExt cx="5303520" cy="914400"/>
          </a:xfrm>
        </p:grpSpPr>
        <p:sp>
          <p:nvSpPr>
            <p:cNvPr id="37" name="Text 19">
              <a:extLst>
                <a:ext uri="{FF2B5EF4-FFF2-40B4-BE49-F238E27FC236}">
                  <a16:creationId xmlns:a16="http://schemas.microsoft.com/office/drawing/2014/main" id="{710E2AD4-7986-1E4D-776E-E77DC399208B}"/>
                </a:ext>
              </a:extLst>
            </p:cNvPr>
            <p:cNvSpPr/>
            <p:nvPr/>
          </p:nvSpPr>
          <p:spPr>
            <a:xfrm>
              <a:off x="5684520" y="573896"/>
              <a:ext cx="5303520" cy="20116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b="1" kern="0" spc="150" dirty="0">
                  <a:solidFill>
                    <a:srgbClr val="0055A4"/>
                  </a:solidFill>
                  <a:latin typeface="Calibri"/>
                  <a:ea typeface="Calibri"/>
                  <a:cs typeface="Calibri"/>
                </a:rPr>
                <a:t>ESTÁNDAR SEMANAL POR VENDEDOR</a:t>
              </a:r>
              <a:endParaRPr lang="en-US" sz="12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8" name="Shape 20">
              <a:extLst>
                <a:ext uri="{FF2B5EF4-FFF2-40B4-BE49-F238E27FC236}">
                  <a16:creationId xmlns:a16="http://schemas.microsoft.com/office/drawing/2014/main" id="{67482C69-DFAC-5E9E-F16E-864A43298FF6}"/>
                </a:ext>
              </a:extLst>
            </p:cNvPr>
            <p:cNvSpPr/>
            <p:nvPr/>
          </p:nvSpPr>
          <p:spPr>
            <a:xfrm>
              <a:off x="5684520" y="853534"/>
              <a:ext cx="5303520" cy="621007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50800" dist="12700" dir="27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39" name="Shape 21">
              <a:extLst>
                <a:ext uri="{FF2B5EF4-FFF2-40B4-BE49-F238E27FC236}">
                  <a16:creationId xmlns:a16="http://schemas.microsoft.com/office/drawing/2014/main" id="{9A5FBD97-6941-9741-02CB-E0740A3EFB22}"/>
                </a:ext>
              </a:extLst>
            </p:cNvPr>
            <p:cNvSpPr/>
            <p:nvPr/>
          </p:nvSpPr>
          <p:spPr>
            <a:xfrm>
              <a:off x="5684520" y="820784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 sz="1200"/>
            </a:p>
          </p:txBody>
        </p:sp>
        <p:sp>
          <p:nvSpPr>
            <p:cNvPr id="40" name="Text 22">
              <a:extLst>
                <a:ext uri="{FF2B5EF4-FFF2-40B4-BE49-F238E27FC236}">
                  <a16:creationId xmlns:a16="http://schemas.microsoft.com/office/drawing/2014/main" id="{83A5CD32-C1E6-FAAE-D270-D9D46B4797A9}"/>
                </a:ext>
              </a:extLst>
            </p:cNvPr>
            <p:cNvSpPr/>
            <p:nvPr/>
          </p:nvSpPr>
          <p:spPr>
            <a:xfrm>
              <a:off x="5684520" y="820784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Llamadas</a:t>
              </a:r>
              <a:endParaRPr lang="en-US" sz="1200" b="1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41" name="Shape 23">
              <a:extLst>
                <a:ext uri="{FF2B5EF4-FFF2-40B4-BE49-F238E27FC236}">
                  <a16:creationId xmlns:a16="http://schemas.microsoft.com/office/drawing/2014/main" id="{20648532-7017-8115-79CB-695A4910137C}"/>
                </a:ext>
              </a:extLst>
            </p:cNvPr>
            <p:cNvSpPr/>
            <p:nvPr/>
          </p:nvSpPr>
          <p:spPr>
            <a:xfrm>
              <a:off x="6568440" y="820784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42" name="Text 24">
              <a:extLst>
                <a:ext uri="{FF2B5EF4-FFF2-40B4-BE49-F238E27FC236}">
                  <a16:creationId xmlns:a16="http://schemas.microsoft.com/office/drawing/2014/main" id="{A9AF3DFE-1E90-B35A-16EA-9D6019D8A081}"/>
                </a:ext>
              </a:extLst>
            </p:cNvPr>
            <p:cNvSpPr/>
            <p:nvPr/>
          </p:nvSpPr>
          <p:spPr>
            <a:xfrm>
              <a:off x="6568440" y="820784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Entrevistas</a:t>
              </a:r>
            </a:p>
          </p:txBody>
        </p:sp>
        <p:sp>
          <p:nvSpPr>
            <p:cNvPr id="43" name="Shape 25">
              <a:extLst>
                <a:ext uri="{FF2B5EF4-FFF2-40B4-BE49-F238E27FC236}">
                  <a16:creationId xmlns:a16="http://schemas.microsoft.com/office/drawing/2014/main" id="{587434B1-C781-1DAB-081C-17FEC4FB9AF7}"/>
                </a:ext>
              </a:extLst>
            </p:cNvPr>
            <p:cNvSpPr/>
            <p:nvPr/>
          </p:nvSpPr>
          <p:spPr>
            <a:xfrm>
              <a:off x="7452360" y="820784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44" name="Text 26">
              <a:extLst>
                <a:ext uri="{FF2B5EF4-FFF2-40B4-BE49-F238E27FC236}">
                  <a16:creationId xmlns:a16="http://schemas.microsoft.com/office/drawing/2014/main" id="{E9D6F8DA-8DB5-F20B-8B2D-D80F63274077}"/>
                </a:ext>
              </a:extLst>
            </p:cNvPr>
            <p:cNvSpPr/>
            <p:nvPr/>
          </p:nvSpPr>
          <p:spPr>
            <a:xfrm>
              <a:off x="7452360" y="820784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Presupuestos</a:t>
              </a:r>
              <a:endParaRPr lang="es-ES" sz="1200" dirty="0" err="1"/>
            </a:p>
          </p:txBody>
        </p:sp>
        <p:sp>
          <p:nvSpPr>
            <p:cNvPr id="45" name="Shape 27">
              <a:extLst>
                <a:ext uri="{FF2B5EF4-FFF2-40B4-BE49-F238E27FC236}">
                  <a16:creationId xmlns:a16="http://schemas.microsoft.com/office/drawing/2014/main" id="{F16D751D-B37A-825D-8F37-39576BA149EA}"/>
                </a:ext>
              </a:extLst>
            </p:cNvPr>
            <p:cNvSpPr/>
            <p:nvPr/>
          </p:nvSpPr>
          <p:spPr>
            <a:xfrm>
              <a:off x="8336280" y="820784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46" name="Text 28">
              <a:extLst>
                <a:ext uri="{FF2B5EF4-FFF2-40B4-BE49-F238E27FC236}">
                  <a16:creationId xmlns:a16="http://schemas.microsoft.com/office/drawing/2014/main" id="{4C702FF9-B8A9-EB75-C28E-6B6A6FE6EBB2}"/>
                </a:ext>
              </a:extLst>
            </p:cNvPr>
            <p:cNvSpPr/>
            <p:nvPr/>
          </p:nvSpPr>
          <p:spPr>
            <a:xfrm>
              <a:off x="8336280" y="820784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Vencimientos</a:t>
              </a:r>
              <a:endParaRPr lang="es-ES" sz="1200" dirty="0" err="1"/>
            </a:p>
          </p:txBody>
        </p:sp>
        <p:sp>
          <p:nvSpPr>
            <p:cNvPr id="47" name="Shape 29">
              <a:extLst>
                <a:ext uri="{FF2B5EF4-FFF2-40B4-BE49-F238E27FC236}">
                  <a16:creationId xmlns:a16="http://schemas.microsoft.com/office/drawing/2014/main" id="{65E6C7C7-61CE-E4BD-A241-126A03ED0491}"/>
                </a:ext>
              </a:extLst>
            </p:cNvPr>
            <p:cNvSpPr/>
            <p:nvPr/>
          </p:nvSpPr>
          <p:spPr>
            <a:xfrm>
              <a:off x="9220200" y="820784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 sz="900"/>
            </a:p>
          </p:txBody>
        </p:sp>
        <p:sp>
          <p:nvSpPr>
            <p:cNvPr id="48" name="Text 30">
              <a:extLst>
                <a:ext uri="{FF2B5EF4-FFF2-40B4-BE49-F238E27FC236}">
                  <a16:creationId xmlns:a16="http://schemas.microsoft.com/office/drawing/2014/main" id="{1B7F9E59-6758-30BE-38E2-F0E5A62DFB7F}"/>
                </a:ext>
              </a:extLst>
            </p:cNvPr>
            <p:cNvSpPr/>
            <p:nvPr/>
          </p:nvSpPr>
          <p:spPr>
            <a:xfrm>
              <a:off x="9220200" y="820784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Referencias</a:t>
              </a:r>
              <a:endParaRPr lang="en-US" sz="1200" dirty="0" err="1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E927B9E-5179-358F-6BC9-B06882B2DAC9}"/>
                </a:ext>
              </a:extLst>
            </p:cNvPr>
            <p:cNvSpPr/>
            <p:nvPr/>
          </p:nvSpPr>
          <p:spPr>
            <a:xfrm>
              <a:off x="10104120" y="820784"/>
              <a:ext cx="883920" cy="274320"/>
            </a:xfrm>
            <a:prstGeom prst="rect">
              <a:avLst/>
            </a:prstGeom>
            <a:solidFill>
              <a:srgbClr val="0055A4"/>
            </a:solidFill>
            <a:ln w="12700">
              <a:solidFill>
                <a:srgbClr val="0055A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/>
            </a:p>
          </p:txBody>
        </p:sp>
        <p:sp>
          <p:nvSpPr>
            <p:cNvPr id="50" name="Text 32">
              <a:extLst>
                <a:ext uri="{FF2B5EF4-FFF2-40B4-BE49-F238E27FC236}">
                  <a16:creationId xmlns:a16="http://schemas.microsoft.com/office/drawing/2014/main" id="{79E45AEC-4037-748A-990F-99ADD53E1854}"/>
                </a:ext>
              </a:extLst>
            </p:cNvPr>
            <p:cNvSpPr/>
            <p:nvPr/>
          </p:nvSpPr>
          <p:spPr>
            <a:xfrm>
              <a:off x="10104120" y="820784"/>
              <a:ext cx="883920" cy="274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Ganadas</a:t>
              </a:r>
              <a:r>
                <a:rPr lang="en-US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/</a:t>
              </a:r>
              <a:endParaRPr lang="es-ES" sz="1200" dirty="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Grabadas</a:t>
              </a:r>
              <a:endParaRPr lang="es-ES" sz="1200" dirty="0" err="1">
                <a:ea typeface="Calibri"/>
                <a:cs typeface="Calibri"/>
              </a:endParaRPr>
            </a:p>
          </p:txBody>
        </p:sp>
        <p:sp>
          <p:nvSpPr>
            <p:cNvPr id="51" name="Text 33">
              <a:extLst>
                <a:ext uri="{FF2B5EF4-FFF2-40B4-BE49-F238E27FC236}">
                  <a16:creationId xmlns:a16="http://schemas.microsoft.com/office/drawing/2014/main" id="{01734833-EF17-255E-C3FE-F725D5810145}"/>
                </a:ext>
              </a:extLst>
            </p:cNvPr>
            <p:cNvSpPr/>
            <p:nvPr/>
          </p:nvSpPr>
          <p:spPr>
            <a:xfrm>
              <a:off x="5684520" y="1104248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</a:t>
              </a:r>
              <a:endParaRPr lang="en-US" sz="1500" dirty="0"/>
            </a:p>
          </p:txBody>
        </p:sp>
        <p:sp>
          <p:nvSpPr>
            <p:cNvPr id="52" name="Text 34">
              <a:extLst>
                <a:ext uri="{FF2B5EF4-FFF2-40B4-BE49-F238E27FC236}">
                  <a16:creationId xmlns:a16="http://schemas.microsoft.com/office/drawing/2014/main" id="{25708534-F070-62F1-564B-4A544C351828}"/>
                </a:ext>
              </a:extLst>
            </p:cNvPr>
            <p:cNvSpPr/>
            <p:nvPr/>
          </p:nvSpPr>
          <p:spPr>
            <a:xfrm>
              <a:off x="6568440" y="1104248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1500" dirty="0"/>
            </a:p>
          </p:txBody>
        </p:sp>
        <p:sp>
          <p:nvSpPr>
            <p:cNvPr id="53" name="Text 35">
              <a:extLst>
                <a:ext uri="{FF2B5EF4-FFF2-40B4-BE49-F238E27FC236}">
                  <a16:creationId xmlns:a16="http://schemas.microsoft.com/office/drawing/2014/main" id="{BEB59DED-51C7-A264-FA19-EABD74EF59CF}"/>
                </a:ext>
              </a:extLst>
            </p:cNvPr>
            <p:cNvSpPr/>
            <p:nvPr/>
          </p:nvSpPr>
          <p:spPr>
            <a:xfrm>
              <a:off x="7452360" y="1104248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1500" dirty="0"/>
            </a:p>
          </p:txBody>
        </p:sp>
        <p:sp>
          <p:nvSpPr>
            <p:cNvPr id="54" name="Text 36">
              <a:extLst>
                <a:ext uri="{FF2B5EF4-FFF2-40B4-BE49-F238E27FC236}">
                  <a16:creationId xmlns:a16="http://schemas.microsoft.com/office/drawing/2014/main" id="{A51963C4-91D2-93AB-5499-3550784F95DC}"/>
                </a:ext>
              </a:extLst>
            </p:cNvPr>
            <p:cNvSpPr/>
            <p:nvPr/>
          </p:nvSpPr>
          <p:spPr>
            <a:xfrm>
              <a:off x="8336280" y="1104248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</a:t>
              </a:r>
              <a:endParaRPr lang="en-US" sz="1500" dirty="0"/>
            </a:p>
          </p:txBody>
        </p:sp>
        <p:sp>
          <p:nvSpPr>
            <p:cNvPr id="55" name="Text 37">
              <a:extLst>
                <a:ext uri="{FF2B5EF4-FFF2-40B4-BE49-F238E27FC236}">
                  <a16:creationId xmlns:a16="http://schemas.microsoft.com/office/drawing/2014/main" id="{B4C0112F-B198-5D68-90DF-6193823F1E44}"/>
                </a:ext>
              </a:extLst>
            </p:cNvPr>
            <p:cNvSpPr/>
            <p:nvPr/>
          </p:nvSpPr>
          <p:spPr>
            <a:xfrm>
              <a:off x="9220200" y="1104248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500" dirty="0"/>
            </a:p>
          </p:txBody>
        </p:sp>
        <p:sp>
          <p:nvSpPr>
            <p:cNvPr id="56" name="Text 38">
              <a:extLst>
                <a:ext uri="{FF2B5EF4-FFF2-40B4-BE49-F238E27FC236}">
                  <a16:creationId xmlns:a16="http://schemas.microsoft.com/office/drawing/2014/main" id="{30805F51-AE48-189A-BE19-1EA724AF9AFD}"/>
                </a:ext>
              </a:extLst>
            </p:cNvPr>
            <p:cNvSpPr/>
            <p:nvPr/>
          </p:nvSpPr>
          <p:spPr>
            <a:xfrm>
              <a:off x="10104120" y="1104248"/>
              <a:ext cx="883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500" b="1" dirty="0">
                  <a:solidFill>
                    <a:srgbClr val="0018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" cy="45720"/>
          </a:xfrm>
          <a:prstGeom prst="rect">
            <a:avLst/>
          </a:prstGeom>
          <a:solidFill>
            <a:srgbClr val="006D85"/>
          </a:solidFill>
          <a:ln w="12700">
            <a:solidFill>
              <a:srgbClr val="006D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semanal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C8D4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987552"/>
            <a:ext cx="10789920" cy="347472"/>
          </a:xfrm>
          <a:prstGeom prst="roundRect">
            <a:avLst>
              <a:gd name="adj" fmla="val 21053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178662"/>
            <a:ext cx="10789920" cy="15636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987552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18104" y="987552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76088" y="987552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34072" y="987552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92056" y="987552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1335024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229868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60120" y="1866198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761042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60120" y="2397372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292216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60120" y="2928546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823390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60120" y="3459720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354564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60120" y="4468950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4363794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0120" y="5000124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894968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60120" y="5531298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5426142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60120" y="6062472"/>
            <a:ext cx="10789920" cy="0"/>
          </a:xfrm>
          <a:prstGeom prst="line">
            <a:avLst/>
          </a:prstGeom>
          <a:noFill/>
          <a:ln w="15240">
            <a:solidFill>
              <a:srgbClr val="B0BE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5957316"/>
            <a:ext cx="493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60120" y="1600611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20624" y="1509171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60120" y="2131785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20624" y="2040345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960120" y="2662959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20624" y="2571519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60120" y="3194133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20624" y="3102693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60120" y="3725307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20624" y="3633867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60120" y="4734537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20624" y="4643097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17:30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60120" y="5265711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420624" y="5174271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18:30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60120" y="5796885"/>
            <a:ext cx="10789920" cy="0"/>
          </a:xfrm>
          <a:prstGeom prst="line">
            <a:avLst/>
          </a:prstGeom>
          <a:noFill/>
          <a:ln w="7620">
            <a:solidFill>
              <a:srgbClr val="CFD8DC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420624" y="5705445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19:30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60120" y="3990894"/>
            <a:ext cx="10789920" cy="212470"/>
          </a:xfrm>
          <a:prstGeom prst="rect">
            <a:avLst/>
          </a:prstGeom>
          <a:solidFill>
            <a:srgbClr val="EDF2F7"/>
          </a:solidFill>
          <a:ln w="12700">
            <a:solidFill>
              <a:srgbClr val="E5EB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1560" y="4014832"/>
            <a:ext cx="10607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· · · · · · · · · · · · · · · · · · · · · · · · · · · · · · · · · · · · · · · · · · · · · ·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118104" y="1335024"/>
            <a:ext cx="0" cy="4727448"/>
          </a:xfrm>
          <a:prstGeom prst="line">
            <a:avLst/>
          </a:prstGeom>
          <a:noFill/>
          <a:ln w="10160">
            <a:solidFill>
              <a:srgbClr val="B0BEC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76088" y="1335024"/>
            <a:ext cx="0" cy="4727448"/>
          </a:xfrm>
          <a:prstGeom prst="line">
            <a:avLst/>
          </a:prstGeom>
          <a:noFill/>
          <a:ln w="10160">
            <a:solidFill>
              <a:srgbClr val="B0BE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34072" y="1335024"/>
            <a:ext cx="0" cy="4727448"/>
          </a:xfrm>
          <a:prstGeom prst="line">
            <a:avLst/>
          </a:prstGeom>
          <a:noFill/>
          <a:ln w="10160">
            <a:solidFill>
              <a:srgbClr val="B0BEC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92056" y="1335024"/>
            <a:ext cx="0" cy="4727448"/>
          </a:xfrm>
          <a:prstGeom prst="line">
            <a:avLst/>
          </a:prstGeom>
          <a:noFill/>
          <a:ln w="10160">
            <a:solidFill>
              <a:srgbClr val="B0BEC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0412" y="1364285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065276" y="1364285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gerente (30MIN)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010412" y="1895459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065276" y="1895459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Rendición de cuentas · María (1H)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10412" y="2426633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1065276" y="2426633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Rendición de cuentas · Rosa (1H)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10412" y="2957807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1065276" y="2957807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Rendición de cuentas · Ibtisam (1H)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010412" y="3488981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065276" y="3488981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Rendición de cuentas · Diego (1H)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010412" y="4498211"/>
            <a:ext cx="2057400" cy="738239"/>
          </a:xfrm>
          <a:prstGeom prst="roundRect">
            <a:avLst>
              <a:gd name="adj" fmla="val 6193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1065276" y="4498211"/>
            <a:ext cx="1947672" cy="7382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presenciales · María (1H30MIN)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010412" y="5294972"/>
            <a:ext cx="2057400" cy="738239"/>
          </a:xfrm>
          <a:prstGeom prst="roundRect">
            <a:avLst>
              <a:gd name="adj" fmla="val 619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1065276" y="5294972"/>
            <a:ext cx="1947672" cy="7382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presenciales · Ibtisam (1H30MIN)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168396" y="1629872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3223260" y="1629872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· Diego (30MIN)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3168396" y="1895459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5BA800"/>
          </a:solidFill>
          <a:ln w="12700">
            <a:solidFill>
              <a:srgbClr val="5BA8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223260" y="1895459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grupal agencia · Hogar Premium (todos)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(impartido por Diego) (1H)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168396" y="2426633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223260" y="2426633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teatro de venta · María (30MIN)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3168396" y="2957807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3223260" y="2957807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presenciales · Rosa (1H)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168396" y="4498211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3223260" y="4498211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· Diego (técnicas comerciales) (1H)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168396" y="5029385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3223260" y="5029385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telefónicas · Diego (remoto) (1H)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326380" y="1364285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5381244" y="1364285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gerente (30MIN)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5326380" y="1629872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381244" y="1629872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· Rosa (30MIN)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5326380" y="1895459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5381244" y="1895459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telefónicas · Ibtisam + Teatro de ventas (1h) (1H)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326380" y="2426633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5381244" y="2426633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teatro de venta · María (30MIN)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5326380" y="2957807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5381244" y="2957807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presenciales · María (1H)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326380" y="4498211"/>
            <a:ext cx="2057400" cy="1535000"/>
          </a:xfrm>
          <a:prstGeom prst="roundRect">
            <a:avLst>
              <a:gd name="adj" fmla="val 2979"/>
            </a:avLst>
          </a:prstGeom>
          <a:solidFill>
            <a:srgbClr val="5BA800"/>
          </a:solidFill>
          <a:ln w="12700">
            <a:solidFill>
              <a:srgbClr val="5BA8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5381244" y="4498211"/>
            <a:ext cx="1947672" cy="1535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presenciales comercios · María, Rosa, Diego, Ibtisam (3H)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484364" y="1629872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7539228" y="1629872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· Rosa (30MIN)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7484364" y="1895459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5BA800"/>
          </a:solidFill>
          <a:ln w="12700">
            <a:solidFill>
              <a:srgbClr val="5BA8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539228" y="1895459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grupal agencia Hogar completo (todos) (1H)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7484364" y="2426633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7539228" y="2426633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teatro de venta · Diego (1H)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7484364" y="4498211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7539228" y="4498211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telefónicas (remoto) · María (1H)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7484364" y="5029385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7539228" y="5029385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telefónicas (remoto) · Rosa (1H)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484364" y="5560559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7539228" y="5560559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telefónicas · Diego (remoto) (1H)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642348" y="1364285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9697212" y="1364285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gerente (30MIN)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9642348" y="1629872"/>
            <a:ext cx="2057400" cy="207065"/>
          </a:xfrm>
          <a:prstGeom prst="roundRect">
            <a:avLst>
              <a:gd name="adj" fmla="val 22080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9697212" y="1629872"/>
            <a:ext cx="1947672" cy="2070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y conceptos · Rosa (30MIN)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9642348" y="1895459"/>
            <a:ext cx="2057400" cy="738239"/>
          </a:xfrm>
          <a:prstGeom prst="roundRect">
            <a:avLst>
              <a:gd name="adj" fmla="val 6193"/>
            </a:avLst>
          </a:prstGeom>
          <a:solidFill>
            <a:srgbClr val="5BA800"/>
          </a:solidFill>
          <a:ln w="12700">
            <a:solidFill>
              <a:srgbClr val="5BA8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9697212" y="1895459"/>
            <a:ext cx="1947672" cy="7382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obligatoria quincenal (todos) (1H30MIN)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9642348" y="3223394"/>
            <a:ext cx="2057400" cy="472652"/>
          </a:xfrm>
          <a:prstGeom prst="roundRect">
            <a:avLst>
              <a:gd name="adj" fmla="val 9673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0" name="Text 108"/>
          <p:cNvSpPr/>
          <p:nvPr/>
        </p:nvSpPr>
        <p:spPr>
          <a:xfrm>
            <a:off x="9697212" y="3223394"/>
            <a:ext cx="1947672" cy="4726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telefónicas · Ibtisam (remoto) (1H)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9642348" y="4232624"/>
            <a:ext cx="2057400" cy="1535000"/>
          </a:xfrm>
          <a:prstGeom prst="roundRect">
            <a:avLst>
              <a:gd name="adj" fmla="val 2979"/>
            </a:avLst>
          </a:prstGeom>
          <a:solidFill>
            <a:srgbClr val="5BA800"/>
          </a:solidFill>
          <a:ln w="12700">
            <a:solidFill>
              <a:srgbClr val="5BA800"/>
            </a:solidFill>
            <a:prstDash val="solid"/>
          </a:ln>
          <a:effectLst>
            <a:outerShdw blurRad="50800" dist="127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9697212" y="4232624"/>
            <a:ext cx="1947672" cy="1535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presenciales pueblos · Todos (3H)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09728" y="6163056"/>
            <a:ext cx="1807464" cy="274320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9728" y="6163056"/>
            <a:ext cx="1807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2136648" y="6163056"/>
            <a:ext cx="1807464" cy="274320"/>
          </a:xfrm>
          <a:prstGeom prst="roundRect">
            <a:avLst>
              <a:gd name="adj" fmla="val 5000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136648" y="6163056"/>
            <a:ext cx="1807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163568" y="6163056"/>
            <a:ext cx="1807464" cy="274320"/>
          </a:xfrm>
          <a:prstGeom prst="roundRect">
            <a:avLst>
              <a:gd name="adj" fmla="val 50000"/>
            </a:avLst>
          </a:prstGeom>
          <a:solidFill>
            <a:srgbClr val="D81B7A"/>
          </a:solidFill>
          <a:ln w="12700">
            <a:solidFill>
              <a:srgbClr val="D81B7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163568" y="6163056"/>
            <a:ext cx="1807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190488" y="6163056"/>
            <a:ext cx="1807464" cy="27432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190488" y="6163056"/>
            <a:ext cx="1807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Ibtisam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8217408" y="6163056"/>
            <a:ext cx="1807464" cy="27432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217408" y="6163056"/>
            <a:ext cx="1807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10244328" y="6163056"/>
            <a:ext cx="1807464" cy="274320"/>
          </a:xfrm>
          <a:prstGeom prst="roundRect">
            <a:avLst>
              <a:gd name="adj" fmla="val 50000"/>
            </a:avLst>
          </a:prstGeom>
          <a:solidFill>
            <a:srgbClr val="5BA800"/>
          </a:solidFill>
          <a:ln w="12700">
            <a:solidFill>
              <a:srgbClr val="5BA80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244328" y="6163056"/>
            <a:ext cx="1807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49379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6224F"/>
          </a:solidFill>
          <a:ln/>
        </p:spPr>
      </p:sp>
      <p:sp>
        <p:nvSpPr>
          <p:cNvPr id="4" name="Text 2"/>
          <p:cNvSpPr/>
          <p:nvPr/>
        </p:nvSpPr>
        <p:spPr>
          <a:xfrm>
            <a:off x="793931" y="2069011"/>
            <a:ext cx="10014858" cy="282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44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Llegar</a:t>
            </a:r>
            <a:r>
              <a:rPr lang="en-US" sz="4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4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juntos</a:t>
            </a:r>
            <a:r>
              <a:rPr lang="en-US" sz="4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es el principio,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sz="4400" b="1" dirty="0" err="1">
                <a:solidFill>
                  <a:srgbClr val="FFFFFF"/>
                </a:solidFill>
                <a:ea typeface="Calibri"/>
                <a:cs typeface="Calibri"/>
              </a:rPr>
              <a:t>mantenerse</a:t>
            </a:r>
            <a:r>
              <a:rPr lang="en-US" sz="4400" b="1" dirty="0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ea typeface="Calibri"/>
                <a:cs typeface="Calibri"/>
              </a:rPr>
              <a:t>juntos</a:t>
            </a:r>
            <a:r>
              <a:rPr lang="en-US" sz="4400" b="1" dirty="0">
                <a:solidFill>
                  <a:srgbClr val="FFFFFF"/>
                </a:solidFill>
                <a:ea typeface="Calibri"/>
                <a:cs typeface="Calibri"/>
              </a:rPr>
              <a:t> el </a:t>
            </a:r>
            <a:r>
              <a:rPr lang="en-US" sz="4400" b="1" dirty="0" err="1">
                <a:solidFill>
                  <a:srgbClr val="FFFFFF"/>
                </a:solidFill>
                <a:ea typeface="Calibri"/>
                <a:cs typeface="Calibri"/>
              </a:rPr>
              <a:t>progreso</a:t>
            </a:r>
            <a:r>
              <a:rPr lang="en-US" sz="4400" b="1" dirty="0">
                <a:solidFill>
                  <a:srgbClr val="FFFFFF"/>
                </a:solidFill>
                <a:ea typeface="Calibri"/>
                <a:cs typeface="Calibri"/>
              </a:rPr>
              <a:t> y </a:t>
            </a:r>
          </a:p>
          <a:p>
            <a:pPr>
              <a:lnSpc>
                <a:spcPct val="110000"/>
              </a:lnSpc>
            </a:pPr>
            <a:r>
              <a:rPr lang="en-US" sz="4400" b="1" dirty="0" err="1">
                <a:solidFill>
                  <a:srgbClr val="FFFFFF"/>
                </a:solidFill>
                <a:ea typeface="Calibri"/>
                <a:cs typeface="Calibri"/>
              </a:rPr>
              <a:t>trabajar</a:t>
            </a:r>
            <a:r>
              <a:rPr lang="en-US" sz="4400" b="1" dirty="0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ea typeface="Calibri"/>
                <a:cs typeface="Calibri"/>
              </a:rPr>
              <a:t>juntos</a:t>
            </a:r>
            <a:r>
              <a:rPr lang="en-US" sz="4400" b="1" dirty="0">
                <a:solidFill>
                  <a:srgbClr val="FFFFFF"/>
                </a:solidFill>
                <a:ea typeface="Calibri"/>
                <a:cs typeface="Calibri"/>
              </a:rPr>
              <a:t> el </a:t>
            </a:r>
            <a:r>
              <a:rPr lang="en-US" sz="4400" b="1" dirty="0" err="1">
                <a:solidFill>
                  <a:srgbClr val="FFFFFF"/>
                </a:solidFill>
                <a:ea typeface="Calibri"/>
                <a:cs typeface="Calibri"/>
              </a:rPr>
              <a:t>éxito</a:t>
            </a:r>
            <a:r>
              <a:rPr lang="en-US" sz="4400" b="1" dirty="0">
                <a:solidFill>
                  <a:srgbClr val="FFFFFF"/>
                </a:solidFill>
                <a:ea typeface="Calibri"/>
                <a:cs typeface="Calibri"/>
              </a:rPr>
              <a:t>.</a:t>
            </a:r>
          </a:p>
          <a:p>
            <a:pPr>
              <a:lnSpc>
                <a:spcPct val="110000"/>
              </a:lnSpc>
            </a:pPr>
            <a:endParaRPr lang="en-US" sz="4400" b="1" dirty="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en-US" sz="4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59436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5943600"/>
            <a:ext cx="274320" cy="27432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0" name="Shape 8"/>
          <p:cNvSpPr/>
          <p:nvPr/>
        </p:nvSpPr>
        <p:spPr>
          <a:xfrm>
            <a:off x="1691640" y="594360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594360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0" y="5210629"/>
            <a:ext cx="3566160" cy="1043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>
                <a:solidFill>
                  <a:srgbClr val="5B7CA6"/>
                </a:solidFill>
                <a:latin typeface="Calibri"/>
                <a:ea typeface="Calibri"/>
                <a:cs typeface="Calibri"/>
              </a:rPr>
              <a:t>ESTUDIO Y ANÁLISIS - CASO 2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r"/>
            <a:r>
              <a:rPr lang="en-US" sz="2000" dirty="0">
                <a:solidFill>
                  <a:srgbClr val="5B7CA6"/>
                </a:solidFill>
                <a:latin typeface="Calibri"/>
                <a:ea typeface="Calibri"/>
                <a:cs typeface="Calibri"/>
              </a:rPr>
              <a:t>Javier  Jiménez </a:t>
            </a:r>
            <a:r>
              <a:rPr lang="en-US" sz="2000" dirty="0" err="1">
                <a:solidFill>
                  <a:srgbClr val="5B7CA6"/>
                </a:solidFill>
                <a:latin typeface="Calibri"/>
                <a:ea typeface="Calibri"/>
                <a:cs typeface="Calibri"/>
              </a:rPr>
              <a:t>Durá</a:t>
            </a:r>
            <a:endParaRPr lang="en-US"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y análisis · Mi llegada al equipo</dc:title>
  <dc:subject>PptxGenJS Presentation</dc:subject>
  <dc:creator>Javier</dc:creator>
  <cp:lastModifiedBy>Javier</cp:lastModifiedBy>
  <cp:revision>267</cp:revision>
  <dcterms:created xsi:type="dcterms:W3CDTF">2026-06-27T06:23:42Z</dcterms:created>
  <dcterms:modified xsi:type="dcterms:W3CDTF">2026-06-27T16:13:01Z</dcterms:modified>
</cp:coreProperties>
</file>